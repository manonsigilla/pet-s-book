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Bonjour, je m'appelle Manon Sigaud et je vous présente aujourd'hui Pet's Book,</a:t>
            </a:r>
          </a:p>
          <a:p>
            <a:r>
              <a:t>un réseau social dédié aux animaux domestiques, inscrits par leurs propriétaires.</a:t>
            </a:r>
          </a:p>
          <a:p>
            <a:r>
              <a:t>Point clé de ma présentation : ce projet n'est pas né hier. Il a commencé en 2022</a:t>
            </a:r>
          </a:p>
          <a:p>
            <a:r>
              <a:t>en équipe, sous forme d'un prototype statique, et je l'ai entièrement repensé et</a:t>
            </a:r>
          </a:p>
          <a:p>
            <a:r>
              <a:t>re-développé depuis, seule, en version fullstack. Je vais donc vous montrer un</a:t>
            </a:r>
          </a:p>
          <a:p>
            <a:r>
              <a:t>véritable avant / après, et la façon dont le projet a mûri au fil des années.</a:t>
            </a:r>
          </a:p>
          <a:p>
            <a:r>
              <a:t>Je terminerai par une démonstration en direct.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Voici le déroulé. Je commence par présenter le projet et son évolution dans le temps,</a:t>
            </a:r>
          </a:p>
          <a:p>
            <a:r>
              <a:t>puis je détaille la version 1 de 2022 — son idée et toute la phase de conception, car</a:t>
            </a:r>
          </a:p>
          <a:p>
            <a:r>
              <a:t>elle constitue « l'avant ». J'enchaîne sur la refonte actuelle, son architecture et ses</a:t>
            </a:r>
          </a:p>
          <a:p>
            <a:r>
              <a:t>fonctionnalités. Je vous montre ensuite l'avant/après en images, puis je relie le projet</a:t>
            </a:r>
          </a:p>
          <a:p>
            <a:r>
              <a:t>aux compétences attendues du Bloc 2. Et je termine par une démonstration en direct.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Pet's Book est un réseau social pour animaux : chaque personne y inscrit ses animaux,</a:t>
            </a:r>
          </a:p>
          <a:p>
            <a:r>
              <a:t>et c'est l'animal qui possède le profil. La mission est de sensibiliser, de façon ludique,</a:t>
            </a:r>
          </a:p>
          <a:p>
            <a:r>
              <a:t>à la protection de l'animal — l'identification par puce et la stérilisation notamment.</a:t>
            </a:r>
          </a:p>
          <a:p>
            <a:r>
              <a:t>Le point que je veux souligner ici, c'est l'évolution : l'idée date de 2022, où nous</a:t>
            </a:r>
          </a:p>
          <a:p>
            <a:r>
              <a:t>étions trois sur un simple prototype statique. Depuis, je l'ai entièrement repris, seule,</a:t>
            </a:r>
          </a:p>
          <a:p>
            <a:r>
              <a:t>pour en faire une vraie application fullstack — et je l'ai même pensée pour tenir la charge</a:t>
            </a:r>
          </a:p>
          <a:p>
            <a:r>
              <a:t>à l'échelle mondiale, d'où des choix d'architecture que je détaillerai.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Tout est parti d'une idée simple : répertorier tous les animaux domestiques sur une seule</a:t>
            </a:r>
          </a:p>
          <a:p>
            <a:r>
              <a:t>plateforme. Lors du brainstorming de 2022, on avait déjà listé l'essentiel : un profil par</a:t>
            </a:r>
          </a:p>
          <a:p>
            <a:r>
              <a:t>animal, la sensibilisation à la protection, et surtout cette condition d'entrée autour de la</a:t>
            </a:r>
          </a:p>
          <a:p>
            <a:r>
              <a:t>stérilisation et de l'identification. Ce que je trouve intéressant à montrer au jury, c'est que</a:t>
            </a:r>
          </a:p>
          <a:p>
            <a:r>
              <a:t>ces idées de départ se retrouvent aujourd'hui concrètement codées : le score de protection,</a:t>
            </a:r>
          </a:p>
          <a:p>
            <a:r>
              <a:t>l'obligation de justifier une non-stérilisation, les Pages professionnelles. L'arborescence</a:t>
            </a:r>
          </a:p>
          <a:p>
            <a:r>
              <a:t>avait été pensée en amont sur MindMeister, avant d'écrire la moindre ligne de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phase de conception a été sérieuse : un cahier des charges complet, daté du 31 octobre 2022,</a:t>
            </a:r>
          </a:p>
          <a:p>
            <a:r>
              <a:t>rédigé à trois. On y trouve déjà le type de produit — un réseau social — la stack de l'époque,</a:t>
            </a:r>
          </a:p>
          <a:p>
            <a:r>
              <a:t>les cibles, et le périmètre. Je veux attirer votre attention sur la rubrique « pour plus tard » :</a:t>
            </a:r>
          </a:p>
          <a:p>
            <a:r>
              <a:t>on y évoquait une boutique et une version multilingue en cas d'expansion. Or aujourd'hui, la</a:t>
            </a:r>
          </a:p>
          <a:p>
            <a:r>
              <a:t>marketplace existe, et j'ai préparé l'architecture pour un déploiement international. À droite,</a:t>
            </a:r>
          </a:p>
          <a:p>
            <a:r>
              <a:t>les deux personas qu'on avait construits : Alain, vétérinaire, et Julien, jeune propriétaire —</a:t>
            </a:r>
          </a:p>
          <a:p>
            <a:r>
              <a:t>ils ont guidé les fonctionnalités et le ton du 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Toujours dans l'avant : la direction artistique. On avait défini une charte graphique avec une</a:t>
            </a:r>
          </a:p>
          <a:p>
            <a:r>
              <a:t>palette caramel et marron, chaleureuse, et un couple de polices — Cinzel pour les titres,</a:t>
            </a:r>
          </a:p>
          <a:p>
            <a:r>
              <a:t>Quicksand pour le texte. Le moodboard, à droite, posait l'ambiance visuelle. Ce que je veux</a:t>
            </a:r>
          </a:p>
          <a:p>
            <a:r>
              <a:t>souligner, c'est la continuité : j'ai gardé cette identité dans la refonte. Les couleurs que vous</a:t>
            </a:r>
          </a:p>
          <a:p>
            <a:r>
              <a:t>voyez sur cette présentation sont exactement celles de Pet's Book. L'âme du projet est restée la</a:t>
            </a:r>
          </a:p>
          <a:p>
            <a:r>
              <a:t>même ; c'est l'exécution technique qui a été entièrement modernisée.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Voici le prototype de 2022 — la page d'accueil d'origine. On reconnaît l'identité : le bandeau</a:t>
            </a:r>
          </a:p>
          <a:p>
            <a:r>
              <a:t>caramel, les titres en Cinzel, le carrousel de photos. C'était un travail d'équipe honnête pour</a:t>
            </a:r>
          </a:p>
          <a:p>
            <a:r>
              <a:t>l'époque, mais c'était un site entièrement statique : que du HTML, du CSS et du JavaScript avec</a:t>
            </a:r>
          </a:p>
          <a:p>
            <a:r>
              <a:t>jQuery, des librairies chargées par CDN, le tout hébergé sur GitHub Pages. Ses limites étaient</a:t>
            </a:r>
          </a:p>
          <a:p>
            <a:r>
              <a:t>claires : pas de back-end, pas de base de données, donc pas de vrais comptes ni de contenu</a:t>
            </a:r>
          </a:p>
          <a:p>
            <a:r>
              <a:t>dynamique, et un CSS difficile à maintenir. C'est exactement ce que la refonte est venue corriger.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Pour la refonte, j'ai choisi une vraie architecture fullstack. Côté frontend : Vite pour le build</a:t>
            </a:r>
          </a:p>
          <a:p>
            <a:r>
              <a:t>et le serveur de dev, du SCSS organisé selon l'architecture 7-1 en mobile-first, et du JavaScript</a:t>
            </a:r>
          </a:p>
          <a:p>
            <a:r>
              <a:t>vanilla en modules — volontairement sans framework, pour démontrer la maîtrise du langage. Côté</a:t>
            </a:r>
          </a:p>
          <a:p>
            <a:r>
              <a:t>backend : Node avec Express qui expose une API REST, une base SQLite derrière une façade d'accès</a:t>
            </a:r>
          </a:p>
          <a:p>
            <a:r>
              <a:t>asynchrone, et la sécurité (bcrypt avec poivre, JWT, helmet, limitation de débit). Les données ne</a:t>
            </a:r>
          </a:p>
          <a:p>
            <a:r>
              <a:t>sont pas inventées : un pipeline ETL récupère de vrais animaux via des API externes. Enfin, j'ai</a:t>
            </a:r>
          </a:p>
          <a:p>
            <a:r>
              <a:t>découplé l'accès aux données du moteur de base : passer à PostgreSQL pour un déploiement mondial</a:t>
            </a:r>
          </a:p>
          <a:p>
            <a:r>
              <a:t>ne touchera qu'un seul fichier. Et pour répondre à la grille : pas de Bootstrap, pas de framework</a:t>
            </a:r>
          </a:p>
          <a:p>
            <a:r>
              <a:t>back-end non maîtrisé — que des choix assumés.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Voici le cœur de ma démonstration : l'avant/après de la page d'accueil. À gauche, 2022 ; à droite,</a:t>
            </a:r>
          </a:p>
          <a:p>
            <a:r>
              <a:t>aujourd'hui. On garde la même identité — les couleurs, l'ambiance chaleureuse — mais l'exécution</a:t>
            </a:r>
          </a:p>
          <a:p>
            <a:r>
              <a:t>n'a plus rien à voir : un hero épuré, une vidéo et un extrait audio de présentation, et surtout des</a:t>
            </a:r>
          </a:p>
          <a:p>
            <a:r>
              <a:t>contenus chargés dynamiquement depuis mon propre back-end. On passe d'une vitrine figée à une</a:t>
            </a:r>
          </a:p>
          <a:p>
            <a:r>
              <a:t>application vivante.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refonte, ce n'est pas qu'un lifting : c'est un vrai produit. On a un fil d'actualité, des profils</a:t>
            </a:r>
          </a:p>
          <a:p>
            <a:r>
              <a:t>d'animaux privés avec un score de protection, un réseau de « copains » entre animaux, la rubrique</a:t>
            </a:r>
          </a:p>
          <a:p>
            <a:r>
              <a:t>perdus/retrouvés modérée par un administrateur, une marketplace entre membres avec un séquestre</a:t>
            </a:r>
          </a:p>
          <a:p>
            <a:r>
              <a:t>simulé, et — la fonctionnalité la plus récente que je viens d'ajouter — les évènements, avec</a:t>
            </a:r>
          </a:p>
          <a:p>
            <a:r>
              <a:t>inscription et système d'avis par étoiles. Il y a aussi un espace d'administration complet en CRUD,</a:t>
            </a:r>
          </a:p>
          <a:p>
            <a:r>
              <a:t>et une authentification sécurisée. À l'écran, c'est justement la page des évènements, que je vous</a:t>
            </a:r>
          </a:p>
          <a:p>
            <a:r>
              <a:t>montrerai en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J'en arrive aux compétences du Bloc 2, et je veux montrer concrètement où elles se trouvent dans</a:t>
            </a:r>
          </a:p>
          <a:p>
            <a:r>
              <a:t>le projet. Première compétence, l'analyse et le découpage sémantique : chaque bloc a une balise</a:t>
            </a:r>
          </a:p>
          <a:p>
            <a:r>
              <a:t>qui a du sens, par exemple un animal est un article. Deuxième, le développement et la structure</a:t>
            </a:r>
          </a:p>
          <a:p>
            <a:r>
              <a:t>HTML : 21 pages, du HTML5 sémantique complété de balises génériques, des classes en méthodologie</a:t>
            </a:r>
          </a:p>
          <a:p>
            <a:r>
              <a:t>BEM. Troisième, les actifs : et là je coche une exigence forte de la grille — il faut de la vidéo</a:t>
            </a:r>
          </a:p>
          <a:p>
            <a:r>
              <a:t>OU de l'audio, et j'ai les deux, plus des images optimisées en lazy-loading. Quatrième, la</a:t>
            </a:r>
          </a:p>
          <a:p>
            <a:r>
              <a:t>typographie et l'accessibilité : des polices importées, et un vrai soin d'accessibilité — liens</a:t>
            </a:r>
          </a:p>
          <a:p>
            <a:r>
              <a:t>d'évitement, aria-label, focus visible — avec pour objectif la validation W3C et le niveau WCAG AA.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suite des compétences. Cinquième, l'agencement et le mobile-first : tout mon SCSS part du mobile</a:t>
            </a:r>
          </a:p>
          <a:p>
            <a:r>
              <a:t>et agrandit avec des media queries en min-width — l'ordre donne bien la priorité aux petits écrans.</a:t>
            </a:r>
          </a:p>
          <a:p>
            <a:r>
              <a:t>Sixième, le préprocesseur : j'utilise SCSS avec l'architecture 7-1, et les directives modernes</a:t>
            </a:r>
          </a:p>
          <a:p>
            <a:r>
              <a:t>@use et @forward plutôt que l'@import déprécié, avec variables, mixins et fonctions. Septième,</a:t>
            </a:r>
          </a:p>
          <a:p>
            <a:r>
              <a:t>l'interactivité JavaScript : sélecteurs DOM, gestion d'événements clic et clavier, la modale des</a:t>
            </a:r>
          </a:p>
          <a:p>
            <a:r>
              <a:t>évènements, le sélecteur d'étoiles des avis, les filtres, le carousel. Huitième et dernière, les</a:t>
            </a:r>
          </a:p>
          <a:p>
            <a:r>
              <a:t>requêtes asynchrones : un wrapper fetch en async/await, et je communique aussi bien avec mon propre</a:t>
            </a:r>
          </a:p>
          <a:p>
            <a:r>
              <a:t>back-end qu'avec une API externe pour les données — la grille demande l'un OU l'autre, j'ai les deux.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Cette diapo répond directement aux points de vigilance listés dans le guide, et elle me servira aussi</a:t>
            </a:r>
          </a:p>
          <a:p>
            <a:r>
              <a:t>pour l'entretien technique. Côté sécurité : les mots de passe ne sont jamais en clair — bcrypt avec</a:t>
            </a:r>
          </a:p>
          <a:p>
            <a:r>
              <a:t>un poivre — les sessions passent par des JWT, toutes mes requêtes SQL sont préparées pour éviter les</a:t>
            </a:r>
          </a:p>
          <a:p>
            <a:r>
              <a:t>injections, j'échappe systématiquement le HTML contre le XSS, et j'ai helmet plus une limitation de</a:t>
            </a:r>
          </a:p>
          <a:p>
            <a:r>
              <a:t>débit. Côté qualité : un code rangé par domaine, commenté, indenté, des noms explicites, une gestion</a:t>
            </a:r>
          </a:p>
          <a:p>
            <a:r>
              <a:t>d'erreurs centralisée qui évite les erreurs 500, un site responsive, et un espace d'administration en</a:t>
            </a:r>
          </a:p>
          <a:p>
            <a:r>
              <a:t>CRUD complet. Bref, les exigences de la grille sont couvertes.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Merci de votre attention. Je vous propose maintenant de passer à la démonstration en direct. Je</a:t>
            </a:r>
          </a:p>
          <a:p>
            <a:r>
              <a:t>vais vous faire un parcours complet : je crée un profil d'animal, je montre le feed, puis les</a:t>
            </a:r>
          </a:p>
          <a:p>
            <a:r>
              <a:t>évènements avec l'inscription et les avis, un tour de la marketplace, et enfin l'espace</a:t>
            </a:r>
          </a:p>
          <a:p>
            <a:r>
              <a:t>administrateur en CRUD. N'hésitez pas à m'arrêter pour me poser des questions. Je reste bien sûr</a:t>
            </a:r>
          </a:p>
          <a:p>
            <a:r>
              <a:t>disponible pour l'entretien technique juste après.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93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F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71655" y="0"/>
            <a:ext cx="320040" cy="6858000"/>
          </a:xfrm>
          <a:prstGeom prst="rect">
            <a:avLst/>
          </a:prstGeom>
          <a:solidFill>
            <a:srgbClr val="BF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ets_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2887" y="640080"/>
            <a:ext cx="1645920" cy="1645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" y="2468880"/>
            <a:ext cx="9997135" cy="13716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5400" b="1" i="0">
                <a:solidFill>
                  <a:srgbClr val="FFFFFF"/>
                </a:solidFill>
                <a:latin typeface="Georgia"/>
              </a:rPr>
              <a:t>Pet's Book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BF8A6B"/>
                </a:solidFill>
                <a:latin typeface="Segoe UI"/>
              </a:rPr>
              <a:t>Réseau social dédié aux animaux  ·  refonte fullstack 2022 →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114800"/>
            <a:ext cx="9997135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F6F1EC"/>
                </a:solidFill>
                <a:latin typeface="Segoe UI"/>
              </a:rPr>
              <a:t>Soutenance — Titre RNCP 37273 « Développeur web fullstack »</a:t>
            </a:r>
          </a:p>
          <a:p>
            <a:pPr algn="ctr">
              <a:spcBef>
                <a:spcPts val="0"/>
              </a:spcBef>
              <a:spcAft>
                <a:spcPts val="1200"/>
              </a:spcAft>
            </a:pPr>
            <a:r>
              <a:rPr sz="1400" b="0" i="0">
                <a:solidFill>
                  <a:srgbClr val="D9D6D2"/>
                </a:solidFill>
                <a:latin typeface="Segoe UI"/>
              </a:rPr>
              <a:t>Bloc 2 — Développer des interfaces frontend pour un site / une application web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Manon Sigaud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F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93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0"/>
            <a:ext cx="11277295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Georgia"/>
              </a:rPr>
              <a:t>Sommaire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00">
                <a:solidFill>
                  <a:srgbClr val="8C593B"/>
                </a:solidFill>
                <a:latin typeface="Segoe UI"/>
              </a:rPr>
              <a:t>Pet's Book — réseau social dédié aux animaux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6473952"/>
            <a:ext cx="27889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>
                <a:solidFill>
                  <a:srgbClr val="8C593B"/>
                </a:solidFill>
                <a:latin typeface="Segoe UI"/>
              </a:rPr>
              <a:t>RNCP 37273 · Bloc 2 · 01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1371600"/>
            <a:ext cx="566928" cy="566928"/>
          </a:xfrm>
          <a:prstGeom prst="ellipse">
            <a:avLst/>
          </a:prstGeom>
          <a:solidFill>
            <a:srgbClr val="BF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325880"/>
            <a:ext cx="9997135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593A28"/>
                </a:solidFill>
                <a:latin typeface="Segoe UI"/>
              </a:rPr>
              <a:t>Le projet &amp; son évolution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C593B"/>
                </a:solidFill>
                <a:latin typeface="Segoe UI"/>
              </a:rPr>
              <a:t>De l'idée de 2022 à l'application d'aujourd'hui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176272"/>
            <a:ext cx="566928" cy="566928"/>
          </a:xfrm>
          <a:prstGeom prst="ellipse">
            <a:avLst/>
          </a:prstGeom>
          <a:solidFill>
            <a:srgbClr val="BF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7627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130552"/>
            <a:ext cx="9997135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593A28"/>
                </a:solidFill>
                <a:latin typeface="Segoe UI"/>
              </a:rPr>
              <a:t>La version 1 (2022)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C593B"/>
                </a:solidFill>
                <a:latin typeface="Segoe UI"/>
              </a:rPr>
              <a:t>L'idée, la conception (charte, personas, moodboard…), le prototype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980944"/>
            <a:ext cx="566928" cy="566928"/>
          </a:xfrm>
          <a:prstGeom prst="ellipse">
            <a:avLst/>
          </a:prstGeom>
          <a:solidFill>
            <a:srgbClr val="BF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980944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935224"/>
            <a:ext cx="9997135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593A28"/>
                </a:solidFill>
                <a:latin typeface="Segoe UI"/>
              </a:rPr>
              <a:t>La refonte (2026)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C593B"/>
                </a:solidFill>
                <a:latin typeface="Segoe UI"/>
              </a:rPr>
              <a:t>Architecture moderne, fonctionnalités et choix techniques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3785615"/>
            <a:ext cx="566928" cy="566928"/>
          </a:xfrm>
          <a:prstGeom prst="ellipse">
            <a:avLst/>
          </a:prstGeom>
          <a:solidFill>
            <a:srgbClr val="BF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785615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739896"/>
            <a:ext cx="9997135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593A28"/>
                </a:solidFill>
                <a:latin typeface="Segoe UI"/>
              </a:rPr>
              <a:t>Avant / Après en images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C593B"/>
                </a:solidFill>
                <a:latin typeface="Segoe UI"/>
              </a:rPr>
              <a:t>L'évolution visuelle du site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4590288"/>
            <a:ext cx="566928" cy="566928"/>
          </a:xfrm>
          <a:prstGeom prst="ellipse">
            <a:avLst/>
          </a:prstGeom>
          <a:solidFill>
            <a:srgbClr val="BF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59028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544568"/>
            <a:ext cx="9997135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593A28"/>
                </a:solidFill>
                <a:latin typeface="Segoe UI"/>
              </a:rPr>
              <a:t>Les compétences du Bloc 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C593B"/>
                </a:solidFill>
                <a:latin typeface="Segoe UI"/>
              </a:rPr>
              <a:t>Les preuves dans le projet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5394959"/>
            <a:ext cx="566928" cy="566928"/>
          </a:xfrm>
          <a:prstGeom prst="ellipse">
            <a:avLst/>
          </a:prstGeom>
          <a:solidFill>
            <a:srgbClr val="BF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394959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349240"/>
            <a:ext cx="9997135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593A28"/>
                </a:solidFill>
                <a:latin typeface="Segoe UI"/>
              </a:rPr>
              <a:t>Démonstration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C593B"/>
                </a:solidFill>
                <a:latin typeface="Segoe UI"/>
              </a:rPr>
              <a:t>Place au live 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F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93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27729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93A28"/>
                </a:solidFill>
                <a:latin typeface="Segoe UI"/>
              </a:rPr>
              <a:t>PRÉSENTATION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277295" cy="60350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Le projet &amp; son évolution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85855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00">
                <a:solidFill>
                  <a:srgbClr val="8C593B"/>
                </a:solidFill>
                <a:latin typeface="Segoe UI"/>
              </a:rPr>
              <a:t>Pet's Book — réseau social dédié aux animaux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9855" y="6473952"/>
            <a:ext cx="27889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>
                <a:solidFill>
                  <a:srgbClr val="8C593B"/>
                </a:solidFill>
                <a:latin typeface="Segoe UI"/>
              </a:rPr>
              <a:t>RNCP 37273 · Bloc 2 ·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6126480" cy="4937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593A28"/>
                </a:solidFill>
                <a:latin typeface="Georgia"/>
              </a:rPr>
              <a:t>Pet's Book, c'est quoi ?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593A28"/>
                </a:solidFill>
                <a:latin typeface="Segoe UI"/>
              </a:rPr>
              <a:t>•  Concept : </a:t>
            </a:r>
            <a:r>
              <a:rPr sz="1400">
                <a:solidFill>
                  <a:srgbClr val="593A28"/>
                </a:solidFill>
                <a:latin typeface="Segoe UI"/>
              </a:rPr>
              <a:t>un réseau social où chaque humain inscrit ses animaux ; le profil appartient à l'animal.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593A28"/>
                </a:solidFill>
                <a:latin typeface="Segoe UI"/>
              </a:rPr>
              <a:t>•  Mission : </a:t>
            </a:r>
            <a:r>
              <a:rPr sz="1400">
                <a:solidFill>
                  <a:srgbClr val="593A28"/>
                </a:solidFill>
                <a:latin typeface="Segoe UI"/>
              </a:rPr>
              <a:t>sensibiliser à la protection juridique (identification) et médicale (stérilisation) de façon ludique.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593A28"/>
                </a:solidFill>
                <a:latin typeface="Segoe UI"/>
              </a:rPr>
              <a:t>•  Périmètre : </a:t>
            </a:r>
            <a:r>
              <a:rPr sz="1400">
                <a:solidFill>
                  <a:srgbClr val="593A28"/>
                </a:solidFill>
                <a:latin typeface="Segoe UI"/>
              </a:rPr>
              <a:t>feed, copains entre animaux, perdus/retrouvés, évènements, marketplace, espace admin.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1800" b="1" i="0">
                <a:solidFill>
                  <a:srgbClr val="593A28"/>
                </a:solidFill>
                <a:latin typeface="Georgia"/>
              </a:rPr>
              <a:t>Un projet qui a évolué au fil des années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593A28"/>
                </a:solidFill>
                <a:latin typeface="Segoe UI"/>
              </a:rPr>
              <a:t>•  2022 : </a:t>
            </a:r>
            <a:r>
              <a:rPr sz="1400">
                <a:solidFill>
                  <a:srgbClr val="593A28"/>
                </a:solidFill>
                <a:latin typeface="Segoe UI"/>
              </a:rPr>
              <a:t>idée née en 2022 en équipe de 3, dans le cadre d'une première formation.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593A28"/>
                </a:solidFill>
                <a:latin typeface="Segoe UI"/>
              </a:rPr>
              <a:t>•  2026 : </a:t>
            </a:r>
            <a:r>
              <a:rPr sz="1400">
                <a:solidFill>
                  <a:srgbClr val="593A28"/>
                </a:solidFill>
                <a:latin typeface="Segoe UI"/>
              </a:rPr>
              <a:t>refonte complète menée seule pour le titre fullstack — nouvelle architecture, vrai back-end.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463040"/>
            <a:ext cx="4114800" cy="4572000"/>
          </a:xfrm>
          <a:prstGeom prst="roundRect">
            <a:avLst/>
          </a:prstGeom>
          <a:solidFill>
            <a:srgbClr val="F6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600200"/>
            <a:ext cx="3657600" cy="4297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BF8A6B"/>
                </a:solidFill>
                <a:latin typeface="Segoe UI"/>
              </a:rPr>
              <a:t>Repères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500" b="1" i="0">
                <a:solidFill>
                  <a:srgbClr val="593A28"/>
                </a:solidFill>
                <a:latin typeface="Georgia"/>
              </a:rPr>
              <a:t>2022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8C593B"/>
                </a:solidFill>
                <a:latin typeface="Segoe UI"/>
              </a:rPr>
              <a:t>Prototype statique d'équipe (HTML/CSS/JS + jQuery), hébergé sur GitHub Pages — 11 pages.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500" b="1" i="0">
                <a:solidFill>
                  <a:srgbClr val="593A28"/>
                </a:solidFill>
                <a:latin typeface="Georgia"/>
              </a:rPr>
              <a:t>2026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8C593B"/>
                </a:solidFill>
                <a:latin typeface="Segoe UI"/>
              </a:rPr>
              <a:t>Refonte fullstack : Vite + SCSS + JS vanilla, back-end Node/Express/SQLite, sécurité, données réelles.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500" b="1" i="0">
                <a:solidFill>
                  <a:srgbClr val="593A28"/>
                </a:solidFill>
                <a:latin typeface="Georgia"/>
              </a:rPr>
              <a:t>Demain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8C593B"/>
                </a:solidFill>
                <a:latin typeface="Segoe UI"/>
              </a:rPr>
              <a:t>Préparé pour un déploiement mondial (couche d'accès données prête pour PostgreSQL).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F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93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27729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93A28"/>
                </a:solidFill>
                <a:latin typeface="Segoe UI"/>
              </a:rPr>
              <a:t>L'AVANT · CONCEPTION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277295" cy="60350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Version 1 (2022) — l'idée de départ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85855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00">
                <a:solidFill>
                  <a:srgbClr val="8C593B"/>
                </a:solidFill>
                <a:latin typeface="Segoe UI"/>
              </a:rPr>
              <a:t>Pet's Book — réseau social dédié aux animaux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9855" y="6473952"/>
            <a:ext cx="27889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>
                <a:solidFill>
                  <a:srgbClr val="8C593B"/>
                </a:solidFill>
                <a:latin typeface="Segoe UI"/>
              </a:rPr>
              <a:t>RNCP 37273 · Bloc 2 ·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6400800" cy="4754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1">
                <a:solidFill>
                  <a:srgbClr val="593A28"/>
                </a:solidFill>
                <a:latin typeface="Georgia"/>
              </a:rPr>
              <a:t>« Répertorier tous les animaux domestiques du monde sur une seule interface »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BF8A6B"/>
                </a:solidFill>
                <a:latin typeface="Segoe UI"/>
              </a:rPr>
              <a:t>Premières idées (brainstorming start-up)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593A28"/>
                </a:solidFill>
                <a:latin typeface="Segoe UI"/>
              </a:rPr>
              <a:t>•  un profil individuel pour chaque animal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593A28"/>
                </a:solidFill>
                <a:latin typeface="Segoe UI"/>
              </a:rPr>
              <a:t>•  protection &amp; sensibilisation (sponsors type associations de défense animale)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593A28"/>
                </a:solidFill>
                <a:latin typeface="Segoe UI"/>
              </a:rPr>
              <a:t>•  condition d'entrée : preuve de stérilisation, puis puce et vaccins (justifier si non)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593A28"/>
                </a:solidFill>
                <a:latin typeface="Segoe UI"/>
              </a:rPr>
              <a:t>•  suivi, comportementaliste, espace vétérinaire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593A28"/>
                </a:solidFill>
                <a:latin typeface="Segoe UI"/>
              </a:rPr>
              <a:t>•  protection des données des propriétaires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593A28"/>
                </a:solidFill>
                <a:latin typeface="Segoe UI"/>
              </a:rPr>
              <a:t>•  une aide médicale par des associations, par pays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250" b="1" i="0">
                <a:solidFill>
                  <a:srgbClr val="4F7942"/>
                </a:solidFill>
                <a:latin typeface="Segoe UI"/>
              </a:rPr>
              <a:t>→ Ces idées de 2022 sont devenues de vraies fonctionnalités en 2026 (score de protection, justification de non-stérilisation, Pages pro…).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463040"/>
            <a:ext cx="4206240" cy="4114800"/>
          </a:xfrm>
          <a:prstGeom prst="roundRect">
            <a:avLst/>
          </a:prstGeom>
          <a:solidFill>
            <a:srgbClr val="593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1737360"/>
            <a:ext cx="3657600" cy="3566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BF8A6B"/>
                </a:solidFill>
                <a:latin typeface="Segoe UI"/>
              </a:rPr>
              <a:t>Mindmeister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F6F1EC"/>
                </a:solidFill>
                <a:latin typeface="Segoe UI"/>
              </a:rPr>
              <a:t>L'arborescence du site et l'enchaînement des onglets ont d'abord été cartographiés sous forme de carte mentale (MindMeister), avant tout code.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9D6D2"/>
                </a:solidFill>
                <a:latin typeface="Segoe UI"/>
              </a:rPr>
              <a:t>Outils de conception : brainstorming, mind map, persona, moodboard, charte graphique, cahier des charges.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F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93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27729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93A28"/>
                </a:solidFill>
                <a:latin typeface="Segoe UI"/>
              </a:rPr>
              <a:t>L'AVANT · CONCEPTION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277295" cy="60350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Version 1 (2022) — le cahier des charges &amp; les personas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85855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00">
                <a:solidFill>
                  <a:srgbClr val="8C593B"/>
                </a:solidFill>
                <a:latin typeface="Segoe UI"/>
              </a:rPr>
              <a:t>Pet's Book — réseau social dédié aux animaux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9855" y="6473952"/>
            <a:ext cx="27889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>
                <a:solidFill>
                  <a:srgbClr val="8C593B"/>
                </a:solidFill>
                <a:latin typeface="Segoe UI"/>
              </a:rPr>
              <a:t>RNCP 37273 · Bloc 2 ·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5120640" cy="4846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593A28"/>
                </a:solidFill>
                <a:latin typeface="Georgia"/>
              </a:rPr>
              <a:t>Cahier des charges (31/10/2022)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593A28"/>
                </a:solidFill>
                <a:latin typeface="Segoe UI"/>
              </a:rPr>
              <a:t>•  Équipe : </a:t>
            </a:r>
            <a:r>
              <a:rPr sz="1300">
                <a:solidFill>
                  <a:srgbClr val="593A28"/>
                </a:solidFill>
                <a:latin typeface="Segoe UI"/>
              </a:rPr>
              <a:t>projet à 3 (Alicia, Manon, Isabel)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593A28"/>
                </a:solidFill>
                <a:latin typeface="Segoe UI"/>
              </a:rPr>
              <a:t>•  Type : </a:t>
            </a:r>
            <a:r>
              <a:rPr sz="1300">
                <a:solidFill>
                  <a:srgbClr val="593A28"/>
                </a:solidFill>
                <a:latin typeface="Segoe UI"/>
              </a:rPr>
              <a:t>plateforme de réseau social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593A28"/>
                </a:solidFill>
                <a:latin typeface="Segoe UI"/>
              </a:rPr>
              <a:t>•  Stack v1 : </a:t>
            </a:r>
            <a:r>
              <a:rPr sz="1300">
                <a:solidFill>
                  <a:srgbClr val="593A28"/>
                </a:solidFill>
                <a:latin typeface="Segoe UI"/>
              </a:rPr>
              <a:t>HTML5, CSS3, JS ES6 + jQuery, hébergé sur GitHub Pages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593A28"/>
                </a:solidFill>
                <a:latin typeface="Segoe UI"/>
              </a:rPr>
              <a:t>•  Cibles : </a:t>
            </a:r>
            <a:r>
              <a:rPr sz="1300">
                <a:solidFill>
                  <a:srgbClr val="593A28"/>
                </a:solidFill>
                <a:latin typeface="Segoe UI"/>
              </a:rPr>
              <a:t>propriétaires d'animaux + pros (assoc., vétérinaires)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593A28"/>
                </a:solidFill>
                <a:latin typeface="Segoe UI"/>
              </a:rPr>
              <a:t>•  Périmètre : </a:t>
            </a:r>
            <a:r>
              <a:rPr sz="1300">
                <a:solidFill>
                  <a:srgbClr val="593A28"/>
                </a:solidFill>
                <a:latin typeface="Segoe UI"/>
              </a:rPr>
              <a:t>11 pages ; géolocalisation, création de compte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593A28"/>
                </a:solidFill>
                <a:latin typeface="Segoe UI"/>
              </a:rPr>
              <a:t>•  « Pour plus tard » : </a:t>
            </a:r>
            <a:r>
              <a:rPr sz="1300">
                <a:solidFill>
                  <a:srgbClr val="593A28"/>
                </a:solidFill>
                <a:latin typeface="Segoe UI"/>
              </a:rPr>
              <a:t>multilingue &amp; boutique si expansion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200" b="1" i="0">
                <a:solidFill>
                  <a:srgbClr val="4F7942"/>
                </a:solidFill>
                <a:latin typeface="Segoe UI"/>
              </a:rPr>
              <a:t>→ Le « pour plus tard » du cahier des charges (boutique, international) est aujourd'hui en place ou préparé.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325880"/>
            <a:ext cx="5577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593A28"/>
                </a:solidFill>
                <a:latin typeface="Georgia"/>
              </a:rPr>
              <a:t>Personas (cibles du produit)</a:t>
            </a:r>
          </a:p>
        </p:txBody>
      </p:sp>
      <p:pic>
        <p:nvPicPr>
          <p:cNvPr id="11" name="Picture 10" descr="6. Personas Pet's 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363152"/>
            <a:ext cx="5577840" cy="3137534"/>
          </a:xfrm>
          <a:prstGeom prst="rect">
            <a:avLst/>
          </a:prstGeom>
          <a:ln w="19050">
            <a:solidFill>
              <a:srgbClr val="593A28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F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93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27729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93A28"/>
                </a:solidFill>
                <a:latin typeface="Segoe UI"/>
              </a:rPr>
              <a:t>L'AVANT · CONCEPTION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277295" cy="60350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Version 1 (2022) — charte graphique &amp; moodboard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85855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00">
                <a:solidFill>
                  <a:srgbClr val="8C593B"/>
                </a:solidFill>
                <a:latin typeface="Segoe UI"/>
              </a:rPr>
              <a:t>Pet's Book — réseau social dédié aux animaux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9855" y="6473952"/>
            <a:ext cx="27889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>
                <a:solidFill>
                  <a:srgbClr val="8C593B"/>
                </a:solidFill>
                <a:latin typeface="Segoe UI"/>
              </a:rPr>
              <a:t>RNCP 37273 · Bloc 2 ·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3931920" cy="4754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593A28"/>
                </a:solidFill>
                <a:latin typeface="Georgia"/>
              </a:rPr>
              <a:t>Charte graphique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3A28"/>
                </a:solidFill>
                <a:latin typeface="Segoe UI"/>
              </a:rPr>
              <a:t>•  palette caramel / marron, douce et chaleureuse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3A28"/>
                </a:solidFill>
                <a:latin typeface="Segoe UI"/>
              </a:rPr>
              <a:t>•  typographie : Cinzel (titres) + Quicksand (texte)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3A28"/>
                </a:solidFill>
                <a:latin typeface="Segoe UI"/>
              </a:rPr>
              <a:t>•  logo et icônes dessinés pour la marque</a:t>
            </a:r>
          </a:p>
          <a:p>
            <a:pPr algn="l">
              <a:spcBef>
                <a:spcPts val="800"/>
              </a:spcBef>
              <a:spcAft>
                <a:spcPts val="600"/>
              </a:spcAft>
            </a:pPr>
            <a:r>
              <a:rPr sz="1300" b="1" i="0">
                <a:solidFill>
                  <a:srgbClr val="BF8A6B"/>
                </a:solidFill>
                <a:latin typeface="Segoe UI"/>
              </a:rPr>
              <a:t>Couleurs de la marque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93A28"/>
                </a:solidFill>
                <a:latin typeface="Segoe UI"/>
              </a:rPr>
              <a:t/>
            </a:r>
          </a:p>
          <a:p>
            <a:pPr algn="l">
              <a:spcBef>
                <a:spcPts val="7000"/>
              </a:spcBef>
              <a:spcAft>
                <a:spcPts val="0"/>
              </a:spcAft>
            </a:pPr>
            <a:r>
              <a:rPr sz="1200" b="1" i="0">
                <a:solidFill>
                  <a:srgbClr val="4F7942"/>
                </a:solidFill>
                <a:latin typeface="Segoe UI"/>
              </a:rPr>
              <a:t>→ Cette identité a été conservée dans la refonte : même âme, exécution modernisée.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160520"/>
            <a:ext cx="777240" cy="548640"/>
          </a:xfrm>
          <a:prstGeom prst="roundRect">
            <a:avLst/>
          </a:prstGeom>
          <a:solidFill>
            <a:srgbClr val="593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754880"/>
            <a:ext cx="868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593B"/>
                </a:solidFill>
                <a:latin typeface="Segoe UI"/>
              </a:rPr>
              <a:t>#593A28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00200" y="4160520"/>
            <a:ext cx="777240" cy="548640"/>
          </a:xfrm>
          <a:prstGeom prst="roundRect">
            <a:avLst/>
          </a:prstGeom>
          <a:solidFill>
            <a:srgbClr val="8C5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4754880"/>
            <a:ext cx="868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593B"/>
                </a:solidFill>
                <a:latin typeface="Segoe UI"/>
              </a:rPr>
              <a:t>#8C593B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14600" y="4160520"/>
            <a:ext cx="777240" cy="548640"/>
          </a:xfrm>
          <a:prstGeom prst="roundRect">
            <a:avLst/>
          </a:prstGeom>
          <a:solidFill>
            <a:srgbClr val="BF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0" y="4754880"/>
            <a:ext cx="868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593B"/>
                </a:solidFill>
                <a:latin typeface="Segoe UI"/>
              </a:rPr>
              <a:t>#BF8A6B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4160520"/>
            <a:ext cx="777240" cy="548640"/>
          </a:xfrm>
          <a:prstGeom prst="roundRect">
            <a:avLst/>
          </a:prstGeom>
          <a:solidFill>
            <a:srgbClr val="D9D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4754880"/>
            <a:ext cx="868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593B"/>
                </a:solidFill>
                <a:latin typeface="Segoe UI"/>
              </a:rPr>
              <a:t>#D9D6D2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1325880"/>
            <a:ext cx="67665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593A28"/>
                </a:solidFill>
                <a:latin typeface="Georgia"/>
              </a:rPr>
              <a:t>Moodboard</a:t>
            </a:r>
          </a:p>
        </p:txBody>
      </p:sp>
      <p:pic>
        <p:nvPicPr>
          <p:cNvPr id="19" name="Picture 18" descr="7. Moodboard pet's 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028825"/>
            <a:ext cx="6766560" cy="3806190"/>
          </a:xfrm>
          <a:prstGeom prst="rect">
            <a:avLst/>
          </a:prstGeom>
          <a:ln w="19050">
            <a:solidFill>
              <a:srgbClr val="593A28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F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93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27729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93A28"/>
                </a:solidFill>
                <a:latin typeface="Segoe UI"/>
              </a:rPr>
              <a:t>L'AVANT · RÉALISATION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277295" cy="60350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Version 1 (2022) — le prototype statique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85855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00">
                <a:solidFill>
                  <a:srgbClr val="8C593B"/>
                </a:solidFill>
                <a:latin typeface="Segoe UI"/>
              </a:rPr>
              <a:t>Pet's Book — réseau social dédié aux animaux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9855" y="6473952"/>
            <a:ext cx="27889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>
                <a:solidFill>
                  <a:srgbClr val="8C593B"/>
                </a:solidFill>
                <a:latin typeface="Segoe UI"/>
              </a:rPr>
              <a:t>RNCP 37273 · Bloc 2 · 06</a:t>
            </a:r>
          </a:p>
        </p:txBody>
      </p:sp>
      <p:pic>
        <p:nvPicPr>
          <p:cNvPr id="9" name="Picture 8" descr="avant-accue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27570"/>
            <a:ext cx="6766560" cy="4260059"/>
          </a:xfrm>
          <a:prstGeom prst="rect">
            <a:avLst/>
          </a:prstGeom>
          <a:ln w="19050">
            <a:solidFill>
              <a:srgbClr val="593A28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7680960" y="1463040"/>
            <a:ext cx="3931920" cy="4572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593A28"/>
                </a:solidFill>
                <a:latin typeface="Georgia"/>
              </a:rPr>
              <a:t>Ce qui existait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593A28"/>
                </a:solidFill>
                <a:latin typeface="Segoe UI"/>
              </a:rPr>
              <a:t>•  site 100 % statique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593A28"/>
                </a:solidFill>
                <a:latin typeface="Segoe UI"/>
              </a:rPr>
              <a:t>•  HTML / CSS / JavaScript + jQuery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593A28"/>
                </a:solidFill>
                <a:latin typeface="Segoe UI"/>
              </a:rPr>
              <a:t>•  dépendances via CDN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593A28"/>
                </a:solidFill>
                <a:latin typeface="Segoe UI"/>
              </a:rPr>
              <a:t>•  hébergé sur GitHub Pages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1500" b="1" i="0">
                <a:solidFill>
                  <a:srgbClr val="593A28"/>
                </a:solidFill>
                <a:latin typeface="Georgia"/>
              </a:rPr>
              <a:t>Ses limites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8C593B"/>
                </a:solidFill>
                <a:latin typeface="Segoe UI"/>
              </a:rPr>
              <a:t>–  aucun back-end, aucune base de données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8C593B"/>
                </a:solidFill>
                <a:latin typeface="Segoe UI"/>
              </a:rPr>
              <a:t>–  pas de comptes ni de données réelles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8C593B"/>
                </a:solidFill>
                <a:latin typeface="Segoe UI"/>
              </a:rPr>
              <a:t>–  CSS monolithique, peu maintenable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F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93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27729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93A28"/>
                </a:solidFill>
                <a:latin typeface="Segoe UI"/>
              </a:rPr>
              <a:t>L'APRÈS · CONCEPTION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277295" cy="60350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La refonte (2026) — architecture &amp; choix techniques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85855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00">
                <a:solidFill>
                  <a:srgbClr val="8C593B"/>
                </a:solidFill>
                <a:latin typeface="Segoe UI"/>
              </a:rPr>
              <a:t>Pet's Book — réseau social dédié aux animaux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9855" y="6473952"/>
            <a:ext cx="27889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>
                <a:solidFill>
                  <a:srgbClr val="8C593B"/>
                </a:solidFill>
                <a:latin typeface="Segoe UI"/>
              </a:rPr>
              <a:t>RNCP 37273 · Bloc 2 ·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5486400" cy="4754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BF8A6B"/>
                </a:solidFill>
                <a:latin typeface="Georgia"/>
              </a:rPr>
              <a:t>Frontend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593A28"/>
                </a:solidFill>
                <a:latin typeface="Segoe UI"/>
              </a:rPr>
              <a:t>•  Vite (build multi-pages, dev server rapide)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593A28"/>
                </a:solidFill>
                <a:latin typeface="Segoe UI"/>
              </a:rPr>
              <a:t>•  SCSS — architecture 7-1, mobile-first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593A28"/>
                </a:solidFill>
                <a:latin typeface="Segoe UI"/>
              </a:rPr>
              <a:t>•  JavaScript vanilla ES6 (modules), sans framework</a:t>
            </a:r>
          </a:p>
          <a:p>
            <a:pPr algn="l">
              <a:spcBef>
                <a:spcPts val="1000"/>
              </a:spcBef>
              <a:spcAft>
                <a:spcPts val="500"/>
              </a:spcAft>
            </a:pPr>
            <a:r>
              <a:rPr sz="1600" b="1" i="0">
                <a:solidFill>
                  <a:srgbClr val="BF8A6B"/>
                </a:solidFill>
                <a:latin typeface="Georgia"/>
              </a:rPr>
              <a:t>Backend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593A28"/>
                </a:solidFill>
                <a:latin typeface="Segoe UI"/>
              </a:rPr>
              <a:t>•  Node.js + Express (API REST sous /api)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593A28"/>
                </a:solidFill>
                <a:latin typeface="Segoe UI"/>
              </a:rPr>
              <a:t>•  SQLite (better-sqlite3) — façade d'accès asynchrone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593A28"/>
                </a:solidFill>
                <a:latin typeface="Segoe UI"/>
              </a:rPr>
              <a:t>•  bcrypt + poivre, JWT, helmet, rate-limiting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5120640" cy="4754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BF8A6B"/>
                </a:solidFill>
                <a:latin typeface="Georgia"/>
              </a:rPr>
              <a:t>Données réelles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593A28"/>
                </a:solidFill>
                <a:latin typeface="Segoe UI"/>
              </a:rPr>
              <a:t>•  pipeline ETL : The Cat/Dog API + données de refuges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593A28"/>
                </a:solidFill>
                <a:latin typeface="Segoe UI"/>
              </a:rPr>
              <a:t>•  animaux réels transformés en profils de démo</a:t>
            </a:r>
          </a:p>
          <a:p>
            <a:pPr algn="l">
              <a:spcBef>
                <a:spcPts val="1000"/>
              </a:spcBef>
              <a:spcAft>
                <a:spcPts val="500"/>
              </a:spcAft>
            </a:pPr>
            <a:r>
              <a:rPr sz="1600" b="1" i="0">
                <a:solidFill>
                  <a:srgbClr val="BF8A6B"/>
                </a:solidFill>
                <a:latin typeface="Georgia"/>
              </a:rPr>
              <a:t>Pensé pour l'échelle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593A28"/>
                </a:solidFill>
                <a:latin typeface="Segoe UI"/>
              </a:rPr>
              <a:t>•  couche d'accès aux données découplée du moteur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593A28"/>
                </a:solidFill>
                <a:latin typeface="Segoe UI"/>
              </a:rPr>
              <a:t>•  bascule vers PostgreSQL préparée (1 seul module)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593A28"/>
                </a:solidFill>
                <a:latin typeface="Segoe UI"/>
              </a:rPr>
              <a:t>•  objectif : robustesse pour un déploiement mondial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200" b="1" i="0">
                <a:solidFill>
                  <a:srgbClr val="4F7942"/>
                </a:solidFill>
                <a:latin typeface="Segoe UI"/>
              </a:rPr>
              <a:t>Pas de Bootstrap, pas de Symfony/Laravel : des choix maîtrisés.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F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93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27729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93A28"/>
                </a:solidFill>
                <a:latin typeface="Segoe UI"/>
              </a:rPr>
              <a:t>L'ÉVOLUTION EN IMAGES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277295" cy="60350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Avant / Après — la page d'accueil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85855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00">
                <a:solidFill>
                  <a:srgbClr val="8C593B"/>
                </a:solidFill>
                <a:latin typeface="Segoe UI"/>
              </a:rPr>
              <a:t>Pet's Book — réseau social dédié aux animaux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9855" y="6473952"/>
            <a:ext cx="27889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>
                <a:solidFill>
                  <a:srgbClr val="8C593B"/>
                </a:solidFill>
                <a:latin typeface="Segoe UI"/>
              </a:rPr>
              <a:t>RNCP 37273 · Bloc 2 ·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5394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8C593B"/>
                </a:solidFill>
                <a:latin typeface="Segoe UI"/>
              </a:rPr>
              <a:t>2022 — prototype statique</a:t>
            </a:r>
          </a:p>
        </p:txBody>
      </p:sp>
      <p:pic>
        <p:nvPicPr>
          <p:cNvPr id="10" name="Picture 9" descr="avant-accue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76452"/>
            <a:ext cx="5394960" cy="3396534"/>
          </a:xfrm>
          <a:prstGeom prst="rect">
            <a:avLst/>
          </a:prstGeom>
          <a:ln w="19050">
            <a:solidFill>
              <a:srgbClr val="593A28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217920" y="123444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593A28"/>
                </a:solidFill>
                <a:latin typeface="Segoe UI"/>
              </a:rPr>
              <a:t>2026 — application fullstack</a:t>
            </a:r>
          </a:p>
        </p:txBody>
      </p:sp>
      <p:pic>
        <p:nvPicPr>
          <p:cNvPr id="12" name="Picture 11" descr="apres-accue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727586"/>
            <a:ext cx="5303520" cy="3494266"/>
          </a:xfrm>
          <a:prstGeom prst="rect">
            <a:avLst/>
          </a:prstGeom>
          <a:ln w="19050">
            <a:solidFill>
              <a:srgbClr val="593A28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40080" y="5440680"/>
            <a:ext cx="1088136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93A28"/>
                </a:solidFill>
                <a:latin typeface="Segoe UI"/>
              </a:rPr>
              <a:t>Même identité (couleurs, esprit chaleureux) — exécution moderne : hero épuré, vidéo et audio de présentation, contenus chargés dynamiquement depuis l'API.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F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93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27729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93A28"/>
                </a:solidFill>
                <a:latin typeface="Segoe UI"/>
              </a:rPr>
              <a:t>L'APRÈS · RÉALISATION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277295" cy="60350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La refonte (2026) — de nouvelles fonctionnalités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85855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00">
                <a:solidFill>
                  <a:srgbClr val="8C593B"/>
                </a:solidFill>
                <a:latin typeface="Segoe UI"/>
              </a:rPr>
              <a:t>Pet's Book — réseau social dédié aux animaux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9855" y="6473952"/>
            <a:ext cx="27889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>
                <a:solidFill>
                  <a:srgbClr val="8C593B"/>
                </a:solidFill>
                <a:latin typeface="Segoe UI"/>
              </a:rPr>
              <a:t>RNCP 37273 · Bloc 2 · 09</a:t>
            </a:r>
          </a:p>
        </p:txBody>
      </p:sp>
      <p:pic>
        <p:nvPicPr>
          <p:cNvPr id="9" name="Picture 8" descr="apres-evene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48990"/>
            <a:ext cx="6400800" cy="4217218"/>
          </a:xfrm>
          <a:prstGeom prst="rect">
            <a:avLst/>
          </a:prstGeom>
          <a:ln w="19050">
            <a:solidFill>
              <a:srgbClr val="593A28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7315200" y="1417320"/>
            <a:ext cx="4297680" cy="46634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593A28"/>
                </a:solidFill>
                <a:latin typeface="Georgia"/>
              </a:rPr>
              <a:t>Ce que fait l'app aujourd'hui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3A28"/>
                </a:solidFill>
                <a:latin typeface="Segoe UI"/>
              </a:rPr>
              <a:t>•  feed social &amp; publications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3A28"/>
                </a:solidFill>
                <a:latin typeface="Segoe UI"/>
              </a:rPr>
              <a:t>•  profils animaux privés + score de protection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3A28"/>
                </a:solidFill>
                <a:latin typeface="Segoe UI"/>
              </a:rPr>
              <a:t>•  réseau de « copains » entre animaux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3A28"/>
                </a:solidFill>
                <a:latin typeface="Segoe UI"/>
              </a:rPr>
              <a:t>•  perdus / retrouvés (modération admin)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3A28"/>
                </a:solidFill>
                <a:latin typeface="Segoe UI"/>
              </a:rPr>
              <a:t>•  Pet's Shop — marketplace entre membres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3A28"/>
                </a:solidFill>
                <a:latin typeface="Segoe UI"/>
              </a:rPr>
              <a:t>•  évènements : inscription + avis ★ (note &amp; commentaires)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3A28"/>
                </a:solidFill>
                <a:latin typeface="Segoe UI"/>
              </a:rPr>
              <a:t>•  espace administration (CRUD complet)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3A28"/>
                </a:solidFill>
                <a:latin typeface="Segoe UI"/>
              </a:rPr>
              <a:t>•  authentification sécurisée (bcrypt + JWT)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150" b="0" i="1">
                <a:solidFill>
                  <a:srgbClr val="8C593B"/>
                </a:solidFill>
                <a:latin typeface="Segoe UI"/>
              </a:rPr>
              <a:t>À l'écran : l'agenda des évènements (page la plus récente).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F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93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27729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93A28"/>
                </a:solidFill>
                <a:latin typeface="Segoe UI"/>
              </a:rPr>
              <a:t>RÉFÉRENTIEL RNCP 37273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277295" cy="60350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Compétences du Bloc 2 — les preuves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85855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00">
                <a:solidFill>
                  <a:srgbClr val="8C593B"/>
                </a:solidFill>
                <a:latin typeface="Segoe UI"/>
              </a:rPr>
              <a:t>Pet's Book — réseau social dédié aux animaux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9855" y="6473952"/>
            <a:ext cx="27889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>
                <a:solidFill>
                  <a:srgbClr val="8C593B"/>
                </a:solidFill>
                <a:latin typeface="Segoe UI"/>
              </a:rPr>
              <a:t>RNCP 37273 · Bloc 2 ·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25880"/>
            <a:ext cx="10881360" cy="1078992"/>
          </a:xfrm>
          <a:prstGeom prst="roundRect">
            <a:avLst/>
          </a:prstGeom>
          <a:solidFill>
            <a:srgbClr val="F6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25880"/>
            <a:ext cx="109728" cy="1078992"/>
          </a:xfrm>
          <a:prstGeom prst="rect">
            <a:avLst/>
          </a:prstGeom>
          <a:solidFill>
            <a:srgbClr val="BF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417320"/>
            <a:ext cx="10497312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593A28"/>
                </a:solidFill>
                <a:latin typeface="Segoe UI"/>
              </a:rPr>
              <a:t>1 · Analyser la maquette et la découper en blocs sémantiques (HTML)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593B"/>
                </a:solidFill>
                <a:latin typeface="Segoe UI"/>
              </a:rPr>
              <a:t>Découpage en header, nav, main, section, article, footer — choix argumentés (1 animal = un &lt;article&gt;).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514600"/>
            <a:ext cx="10881360" cy="1078992"/>
          </a:xfrm>
          <a:prstGeom prst="roundRect">
            <a:avLst/>
          </a:prstGeom>
          <a:solidFill>
            <a:srgbClr val="F6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514600"/>
            <a:ext cx="109728" cy="1078992"/>
          </a:xfrm>
          <a:prstGeom prst="rect">
            <a:avLst/>
          </a:prstGeom>
          <a:solidFill>
            <a:srgbClr val="BF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606040"/>
            <a:ext cx="10497312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593A28"/>
                </a:solidFill>
                <a:latin typeface="Segoe UI"/>
              </a:rPr>
              <a:t>2 · Développer la page et structurer le HTML (sémantique + générique)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593B"/>
                </a:solidFill>
                <a:latin typeface="Segoe UI"/>
              </a:rPr>
              <a:t>21 pages, HTML5 sémantique + balises génériques, classes BEM, attributs ARIA. Intégration organisée.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10881360" cy="1078992"/>
          </a:xfrm>
          <a:prstGeom prst="roundRect">
            <a:avLst/>
          </a:prstGeom>
          <a:solidFill>
            <a:srgbClr val="F6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703320"/>
            <a:ext cx="109728" cy="1078992"/>
          </a:xfrm>
          <a:prstGeom prst="rect">
            <a:avLst/>
          </a:prstGeom>
          <a:solidFill>
            <a:srgbClr val="BF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794759"/>
            <a:ext cx="10497312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593A28"/>
                </a:solidFill>
                <a:latin typeface="Segoe UI"/>
              </a:rPr>
              <a:t>3 · Importer des « actifs » (CSS, images, vidéo, audio, scripts)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593B"/>
                </a:solidFill>
                <a:latin typeface="Segoe UI"/>
              </a:rPr>
              <a:t>Vidéo + audio de présentation sur l'accueil, images optimisées + lazy-loading, polices et icônes importées.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892040"/>
            <a:ext cx="10881360" cy="1078992"/>
          </a:xfrm>
          <a:prstGeom prst="roundRect">
            <a:avLst/>
          </a:prstGeom>
          <a:solidFill>
            <a:srgbClr val="F6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892040"/>
            <a:ext cx="109728" cy="1078992"/>
          </a:xfrm>
          <a:prstGeom prst="rect">
            <a:avLst/>
          </a:prstGeom>
          <a:solidFill>
            <a:srgbClr val="BF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983479"/>
            <a:ext cx="10497312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593A28"/>
                </a:solidFill>
                <a:latin typeface="Segoe UI"/>
              </a:rPr>
              <a:t>4 · Typographie &amp; accessibilité (validation W3C)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593B"/>
                </a:solidFill>
                <a:latin typeface="Segoe UI"/>
              </a:rPr>
              <a:t>Polices Cinzel + Quicksand importées ; skip-link, aria-label, visually-hidden, focus-visible, alt — objectif WCAG AA.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F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93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27729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93A28"/>
                </a:solidFill>
                <a:latin typeface="Segoe UI"/>
              </a:rPr>
              <a:t>RÉFÉRENTIEL RNCP 37273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277295" cy="60350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Compétences du Bloc 2 — les preuves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85855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00">
                <a:solidFill>
                  <a:srgbClr val="8C593B"/>
                </a:solidFill>
                <a:latin typeface="Segoe UI"/>
              </a:rPr>
              <a:t>Pet's Book — réseau social dédié aux animaux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9855" y="6473952"/>
            <a:ext cx="27889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>
                <a:solidFill>
                  <a:srgbClr val="8C593B"/>
                </a:solidFill>
                <a:latin typeface="Segoe UI"/>
              </a:rPr>
              <a:t>RNCP 37273 · Bloc 2 ·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25880"/>
            <a:ext cx="10881360" cy="1078992"/>
          </a:xfrm>
          <a:prstGeom prst="roundRect">
            <a:avLst/>
          </a:prstGeom>
          <a:solidFill>
            <a:srgbClr val="F6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25880"/>
            <a:ext cx="109728" cy="1078992"/>
          </a:xfrm>
          <a:prstGeom prst="rect">
            <a:avLst/>
          </a:prstGeom>
          <a:solidFill>
            <a:srgbClr val="BF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417320"/>
            <a:ext cx="10497312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593A28"/>
                </a:solidFill>
                <a:latin typeface="Segoe UI"/>
              </a:rPr>
              <a:t>5 · Agencement des blocs &amp; mobile-first (media queries)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593B"/>
                </a:solidFill>
                <a:latin typeface="Segoe UI"/>
              </a:rPr>
              <a:t>SCSS mobile-first : mixin respond-to basé sur @media (min-width), breakpoints small → xxlarge.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514600"/>
            <a:ext cx="10881360" cy="1078992"/>
          </a:xfrm>
          <a:prstGeom prst="roundRect">
            <a:avLst/>
          </a:prstGeom>
          <a:solidFill>
            <a:srgbClr val="F6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514600"/>
            <a:ext cx="109728" cy="1078992"/>
          </a:xfrm>
          <a:prstGeom prst="rect">
            <a:avLst/>
          </a:prstGeom>
          <a:solidFill>
            <a:srgbClr val="BF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606040"/>
            <a:ext cx="10497312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593A28"/>
                </a:solidFill>
                <a:latin typeface="Segoe UI"/>
              </a:rPr>
              <a:t>6 · Structurer le code avec un préprocesseur CSS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593B"/>
                </a:solidFill>
                <a:latin typeface="Segoe UI"/>
              </a:rPr>
              <a:t>SASS/SCSS, architecture 7-1, @use / @forward (pas d'@import déprécié), variables, mixins, fonctions.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10881360" cy="1078992"/>
          </a:xfrm>
          <a:prstGeom prst="roundRect">
            <a:avLst/>
          </a:prstGeom>
          <a:solidFill>
            <a:srgbClr val="F6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703320"/>
            <a:ext cx="109728" cy="1078992"/>
          </a:xfrm>
          <a:prstGeom prst="rect">
            <a:avLst/>
          </a:prstGeom>
          <a:solidFill>
            <a:srgbClr val="BF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794759"/>
            <a:ext cx="10497312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593A28"/>
                </a:solidFill>
                <a:latin typeface="Segoe UI"/>
              </a:rPr>
              <a:t>7 · Manipuler la page pour interagir avec l'utilisateur (JS)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593B"/>
                </a:solidFill>
                <a:latin typeface="Segoe UI"/>
              </a:rPr>
              <a:t>Sélecteurs DOM, événements clic/clavier/submit, modale, sélecteur d'étoiles, filtres, carousel, formulaires.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892040"/>
            <a:ext cx="10881360" cy="1078992"/>
          </a:xfrm>
          <a:prstGeom prst="roundRect">
            <a:avLst/>
          </a:prstGeom>
          <a:solidFill>
            <a:srgbClr val="F6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892040"/>
            <a:ext cx="109728" cy="1078992"/>
          </a:xfrm>
          <a:prstGeom prst="rect">
            <a:avLst/>
          </a:prstGeom>
          <a:solidFill>
            <a:srgbClr val="BF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983479"/>
            <a:ext cx="10497312" cy="89611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593A28"/>
                </a:solidFill>
                <a:latin typeface="Segoe UI"/>
              </a:rPr>
              <a:t>8 · Requêtes HTTP asynchrones avec un serveur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593B"/>
                </a:solidFill>
                <a:latin typeface="Segoe UI"/>
              </a:rPr>
              <a:t>Wrapper fetch + async/await : communication avec mon back-end Express ET une API externe (ETL). Les deux cas.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F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93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27729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93A28"/>
                </a:solidFill>
                <a:latin typeface="Segoe UI"/>
              </a:rPr>
              <a:t>POINTS DE VIGILANCE DE LA GRILLE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277295" cy="60350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Qualité, sécurité &amp; bonnes pratiques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85855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00">
                <a:solidFill>
                  <a:srgbClr val="8C593B"/>
                </a:solidFill>
                <a:latin typeface="Segoe UI"/>
              </a:rPr>
              <a:t>Pet's Book — réseau social dédié aux animaux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9855" y="6473952"/>
            <a:ext cx="27889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>
                <a:solidFill>
                  <a:srgbClr val="8C593B"/>
                </a:solidFill>
                <a:latin typeface="Segoe UI"/>
              </a:rPr>
              <a:t>RNCP 37273 · Bloc 2 ·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5486400" cy="4754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BF8A6B"/>
                </a:solidFill>
                <a:latin typeface="Georgia"/>
              </a:rPr>
              <a:t>Sécurité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3A28"/>
                </a:solidFill>
                <a:latin typeface="Segoe UI"/>
              </a:rPr>
              <a:t>•  mots de passe : bcrypt (12 tours) + poivre HMAC — jamais en clair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3A28"/>
                </a:solidFill>
                <a:latin typeface="Segoe UI"/>
              </a:rPr>
              <a:t>•  sessions par JWT signé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3A28"/>
                </a:solidFill>
                <a:latin typeface="Segoe UI"/>
              </a:rPr>
              <a:t>•  anti-injection SQL : requêtes préparées partout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3A28"/>
                </a:solidFill>
                <a:latin typeface="Segoe UI"/>
              </a:rPr>
              <a:t>•  anti-XSS : échappement systématique du HTML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3A28"/>
                </a:solidFill>
                <a:latin typeface="Segoe UI"/>
              </a:rPr>
              <a:t>•  helmet + limitation de débit (anti brute-force / spam)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5120640" cy="4754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BF8A6B"/>
                </a:solidFill>
                <a:latin typeface="Georgia"/>
              </a:rPr>
              <a:t>Qualité du code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3A28"/>
                </a:solidFill>
                <a:latin typeface="Segoe UI"/>
              </a:rPr>
              <a:t>•  code organisé par domaine, commenté et indenté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3A28"/>
                </a:solidFill>
                <a:latin typeface="Segoe UI"/>
              </a:rPr>
              <a:t>•  dénominations claires (variables, URLs, fichiers)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3A28"/>
                </a:solidFill>
                <a:latin typeface="Segoe UI"/>
              </a:rPr>
              <a:t>•  gestion d'erreurs centralisée : pas d'erreur 500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3A28"/>
                </a:solidFill>
                <a:latin typeface="Segoe UI"/>
              </a:rPr>
              <a:t>•  site responsive (mobile-first)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3A28"/>
                </a:solidFill>
                <a:latin typeface="Segoe UI"/>
              </a:rPr>
              <a:t>•  espace d'administration avec CRUD complet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250" b="1" i="0">
                <a:solidFill>
                  <a:srgbClr val="4F7942"/>
                </a:solidFill>
                <a:latin typeface="Segoe UI"/>
              </a:rPr>
              <a:t>→ Tous les points de vigilance de la grille sont couverts.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93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BF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BF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ets_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327" y="1005840"/>
            <a:ext cx="1463040" cy="1463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" y="2743200"/>
            <a:ext cx="9997135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Merci de votre attention</a:t>
            </a:r>
          </a:p>
          <a:p>
            <a:pPr algn="ctr">
              <a:spcBef>
                <a:spcPts val="0"/>
              </a:spcBef>
              <a:spcAft>
                <a:spcPts val="1400"/>
              </a:spcAft>
            </a:pPr>
            <a:r>
              <a:rPr sz="2000" b="1" i="0">
                <a:solidFill>
                  <a:srgbClr val="BF8A6B"/>
                </a:solidFill>
                <a:latin typeface="Segoe UI"/>
              </a:rPr>
              <a:t>Place à la démonstration en direct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6F1EC"/>
                </a:solidFill>
                <a:latin typeface="Segoe UI"/>
              </a:rPr>
              <a:t>Je vous propose de parcourir ensemble le site : création de profil, feed, évènements et avis, marketplace, et espace administrateur.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
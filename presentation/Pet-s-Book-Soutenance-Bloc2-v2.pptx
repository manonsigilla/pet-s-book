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GLOSSAIRE (à expliquer si on me le demande) :</a:t>
            </a:r>
          </a:p>
          <a:p>
            <a:r>
              <a:t>• Frontend : la partie visible d'un site, affichée dans le navigateur (ce que voit l'utilisateur).</a:t>
            </a:r>
          </a:p>
          <a:p>
            <a:r>
              <a:t>• Fullstack : qui couvre le frontend (ce qui s'affiche) ET le backend (le serveur et les données).</a:t>
            </a:r>
          </a:p>
          <a:p>
            <a:r>
              <a:t>• RNCP : Répertoire National des Certifications Professionnelles — le registre officiel des diplômes reconnus par l'État.</a:t>
            </a:r>
          </a:p>
          <a:p>
            <a:r>
              <a:t>• Bloc de compétences : un ensemble cohérent de compétences évaluées ensemble ; ici le Bloc 2 porte sur les interfaces frontend.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Déroulé de la présentation. J'enchaîne ensuite par une démonstration en direct (≈ 7 minutes).</a:t>
            </a:r>
          </a:p>
          <a:p>
            <a:r>
              <a:t>Aucun terme technique particulier sur cette diapo.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GLOSSAIRE :</a:t>
            </a:r>
          </a:p>
          <a:p>
            <a:r>
              <a:t>• Cahier des charges : document qui définit le besoin, les objectifs, les cibles et le périmètre d'un projet avant de le réaliser.</a:t>
            </a:r>
          </a:p>
          <a:p>
            <a:r>
              <a:t>• Persona : personnage fictif représentant un type d'utilisateur cible (voir diapo suivante).</a:t>
            </a:r>
          </a:p>
          <a:p>
            <a:r>
              <a:t>• Réseau social : plateforme où les utilisateurs créent un profil, publient et interagissent.</a:t>
            </a:r>
          </a:p>
          <a:p>
            <a:r>
              <a:t>• Géolocalisation : utiliser la position géographique (ville) pour proposer du contenu proche de l'utilisateur.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GLOSSAIRE :</a:t>
            </a:r>
          </a:p>
          <a:p>
            <a:r>
              <a:t>• Persona : personnage fictif (prénom, âge, besoins, freins) qui incarne un groupe d'utilisateurs.</a:t>
            </a:r>
          </a:p>
          <a:p>
            <a:r>
              <a:t>  Ici : Alain, vétérinaire, et Julien, jeune propriétaire de chien. Cela aide à concevoir pour de vraies attentes.</a:t>
            </a:r>
          </a:p>
          <a:p>
            <a:r>
              <a:t>• Moodboard (planche d'ambiance) : collage d'images, couleurs et styles qui fixe l'atmosphère visuelle souhaitée avant de dessiner le 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GLOSSAIRE :</a:t>
            </a:r>
          </a:p>
          <a:p>
            <a:r>
              <a:t>• Charte graphique : ensemble des règles visuelles d'une marque (couleurs, polices, logo) pour une identité cohérente.</a:t>
            </a:r>
          </a:p>
          <a:p>
            <a:r>
              <a:t>• Palette : la sélection de couleurs officielles du projet.</a:t>
            </a:r>
          </a:p>
          <a:p>
            <a:r>
              <a:t>• Typographie : le choix et l'agencement des polices de caractères.</a:t>
            </a:r>
          </a:p>
          <a:p>
            <a:r>
              <a:t>• Code couleur hexadécimal (ex. #BF8A6B) : notation qui désigne une couleur précise pour le web.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GLOSSAIRE :</a:t>
            </a:r>
          </a:p>
          <a:p>
            <a:r>
              <a:t>• Site statique : pages figées, sans base de données ; le contenu ne change pas selon l'utilisateur.</a:t>
            </a:r>
          </a:p>
          <a:p>
            <a:r>
              <a:t>• Application (dynamique) : le contenu est généré à la demande à partir de données (comptes, publications…).</a:t>
            </a:r>
          </a:p>
          <a:p>
            <a:r>
              <a:t>• Back-end : le serveur, invisible pour l'utilisateur, qui stocke les données et répond aux demandes du 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GLOSSAIRE :</a:t>
            </a:r>
          </a:p>
          <a:p>
            <a:r>
              <a:t>• Vite : outil moderne qui assemble (« build ») le site et fournit un serveur de développement rapide.</a:t>
            </a:r>
          </a:p>
          <a:p>
            <a:r>
              <a:t>• Build : étape qui transforme le code source en fichiers optimisés prêts pour le navigateur.</a:t>
            </a:r>
          </a:p>
          <a:p>
            <a:r>
              <a:t>• Framework : « boîte à outils » de code prête à l'emploi (ex. React, Bootstrap). J'ai choisi de ne pas en utiliser pour le JS et le CSS afin de démontrer ma maîtrise.</a:t>
            </a:r>
          </a:p>
          <a:p>
            <a:r>
              <a:t>• API : interface par laquelle le site demande/reçoit des données du serveur (souvent au format JSON).</a:t>
            </a:r>
          </a:p>
          <a:p>
            <a:r>
              <a:t>• Node.js : permet d'exécuter du JavaScript en dehors du navigateur, côté serveur.</a:t>
            </a:r>
          </a:p>
          <a:p>
            <a:r>
              <a:t>• Express : bibliothèque Node qui simplifie la création d'un serveur et de ses « routes » (URL).</a:t>
            </a:r>
          </a:p>
          <a:p>
            <a:r>
              <a:t>• Base de données : système qui stocke et organise les données (utilisateurs, animaux…).</a:t>
            </a:r>
          </a:p>
          <a:p>
            <a:r>
              <a:t>• SQLite : base de données rangée dans un simple fichier, sans serveur dédié.</a:t>
            </a:r>
          </a:p>
          <a:p>
            <a:r>
              <a:t>• bcrypt : fonction qui « hache » les mots de passe (les transforme en empreinte illisible).</a:t>
            </a:r>
          </a:p>
          <a:p>
            <a:r>
              <a:t>• JWT (jeton) : petit jeton signé prouvant qu'un utilisateur est connecté.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GLOSSAIRE :</a:t>
            </a:r>
          </a:p>
          <a:p>
            <a:r>
              <a:t>• UML : « langage » de schémas standard pour décrire un logiciel de façon visuelle.</a:t>
            </a:r>
          </a:p>
          <a:p>
            <a:r>
              <a:t>• Diagramme de cas d'utilisation : schéma UML qui montre les ACTEURS et les ACTIONS possibles sur le système.</a:t>
            </a:r>
          </a:p>
          <a:p>
            <a:r>
              <a:t>• Acteur : un rôle d'utilisateur (ici Visiteur, Membre, Administrateur).</a:t>
            </a:r>
          </a:p>
          <a:p>
            <a:r>
              <a:t>• Cas d'utilisation : une action que l'acteur peut réaliser (s'inscrire, publier, modérer…).</a:t>
            </a:r>
          </a:p>
          <a:p>
            <a:r>
              <a:t>• Le grand cadre représente le système (le site) ; chaque trait relie un acteur à ce qu'il a le droit de faire.</a:t>
            </a:r>
          </a:p>
          <a:p>
            <a:r>
              <a:t>• Modérer : vérifier et valider/supprimer des contenus (ici, l'admin approuve les annonces et surveille les profils).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GLOSSAIRE :</a:t>
            </a:r>
          </a:p>
          <a:p>
            <a:r>
              <a:t>• Éco-conception : démarche qui vise à réduire l'impact d'un site (poids des pages, énergie, données échangées).</a:t>
            </a:r>
          </a:p>
          <a:p>
            <a:r>
              <a:t>• Lazy-load (chargement différé) : on ne télécharge une image que lorsqu'elle arrive à l'écran, pas avant.</a:t>
            </a:r>
          </a:p>
          <a:p>
            <a:r>
              <a:t>• Librairie : ensemble de code tout prêt qu'on ajoute au projet ; certaines (jQuery, Bootstrap) alourdissent la page.</a:t>
            </a:r>
          </a:p>
          <a:p>
            <a:r>
              <a:t>• Factoriser : écrire une seule fois un élément réutilisé partout, au lieu de le répéter.</a:t>
            </a:r>
          </a:p>
          <a:p>
            <a:r>
              <a:t>• Mixin (SCSS) : bloc de styles réutilisable qu'on appelle à plusieurs endroits.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GLOSSAIRE :</a:t>
            </a:r>
          </a:p>
          <a:p>
            <a:r>
              <a:t>• CSS : langage qui décrit l'apparence d'une page (couleurs, tailles, positions).</a:t>
            </a:r>
          </a:p>
          <a:p>
            <a:r>
              <a:t>• SCSS / préprocesseur : une version enrichie du CSS (variables, mixins, fichiers séparés) qui se « compile » ensuite en CSS classique.</a:t>
            </a:r>
          </a:p>
          <a:p>
            <a:r>
              <a:t>• Architecture 7-1 : façon standard d'organiser les fichiers SCSS en 7 dossiers (base, composants, pages…) + 1 fichier principal.</a:t>
            </a:r>
          </a:p>
          <a:p>
            <a:r>
              <a:t>• Variable : une valeur nommée réutilisable (ex. la couleur caramel) modifiable à un seul endroit.</a:t>
            </a:r>
          </a:p>
          <a:p>
            <a:r>
              <a:t>• Mobile-first : on conçoit d'abord pour mobile, puis on ajoute des règles pour les grands écrans.</a:t>
            </a:r>
          </a:p>
          <a:p>
            <a:r>
              <a:t>• Media query : règle CSS qui s'applique selon la taille de l'écran (ex. à partir de 768 px).</a:t>
            </a:r>
          </a:p>
          <a:p>
            <a:r>
              <a:t>• BEM : convention de nommage des classes (Bloc__Élément--Modificateur) pour s'y retrouver.</a:t>
            </a:r>
          </a:p>
          <a:p>
            <a:r>
              <a:t>• @use / @forward : instructions SCSS modernes pour relier les fichiers entre 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GLOSSAIRE :</a:t>
            </a:r>
          </a:p>
          <a:p>
            <a:r>
              <a:t>• HTML : langage qui structure le contenu d'une page (titres, paragraphes, images…).</a:t>
            </a:r>
          </a:p>
          <a:p>
            <a:r>
              <a:t>• Balise sémantique : balise dont le nom décrit son rôle (header = en-tête, nav = navigation, article = contenu autonome). Cela aide moteurs de recherche et lecteurs d'écran.</a:t>
            </a:r>
          </a:p>
          <a:p>
            <a:r>
              <a:t>• Balise générique : div et span, sans signification particulière, pour regrouper ou styliser.</a:t>
            </a:r>
          </a:p>
          <a:p>
            <a:r>
              <a:t>• Accessibilité : rendre le site utilisable par tous, y compris les personnes en situation de handicap.</a:t>
            </a:r>
          </a:p>
          <a:p>
            <a:r>
              <a:t>• Lien d'évitement (skip-link) : lien caché permettant d'aller directement au contenu principal au clavier.</a:t>
            </a:r>
          </a:p>
          <a:p>
            <a:r>
              <a:t>• aria-label : texte invisible à l'écran mais lu par les lecteurs d'écran pour décrire un élément.</a:t>
            </a:r>
          </a:p>
          <a:p>
            <a:r>
              <a:t>• Texte alternatif (alt) : description d'une image, lue si l'image ne s'affiche pas ou par un lecteur d'écran.</a:t>
            </a:r>
          </a:p>
          <a:p>
            <a:r>
              <a:t>• WCAG AA : niveau de référence des normes d'accessibilité web.</a:t>
            </a:r>
          </a:p>
          <a:p>
            <a:r>
              <a:t>• W3C : organisme qui définit les standards du web ; son validateur vérifie que le code HTML est correct.</a:t>
            </a:r>
          </a:p>
          <a:p>
            <a:r>
              <a:t>• Actifs : ressources intégrées à la page (images, vidéos, sons, polices, scripts).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GLOSSAIRE :</a:t>
            </a:r>
          </a:p>
          <a:p>
            <a:r>
              <a:t>• JavaScript : langage qui rend la page interactive (réagir aux actions de l'utilisateur).</a:t>
            </a:r>
          </a:p>
          <a:p>
            <a:r>
              <a:t>• DOM : représentation, en mémoire, de la page HTML ; le JavaScript la lit et la modifie pour changer l'affichage.</a:t>
            </a:r>
          </a:p>
          <a:p>
            <a:r>
              <a:t>• Événement : une action détectée (clic, touche clavier, envoi de formulaire) à laquelle on réagit.</a:t>
            </a:r>
          </a:p>
          <a:p>
            <a:r>
              <a:t>• Modale : fenêtre qui s'ouvre par-dessus la page (ici, le détail d'un évènement).</a:t>
            </a:r>
          </a:p>
          <a:p>
            <a:r>
              <a:t>• Requête HTTP : message envoyé au serveur pour demander ou envoyer des données.</a:t>
            </a:r>
          </a:p>
          <a:p>
            <a:r>
              <a:t>• Asynchrone : l'action se fait en arrière-plan, sans bloquer ni recharger la page.</a:t>
            </a:r>
          </a:p>
          <a:p>
            <a:r>
              <a:t>• fetch / async / await : les outils JavaScript modernes pour faire ces requêtes asynchrones.</a:t>
            </a:r>
          </a:p>
          <a:p>
            <a:r>
              <a:t>• API externe : service tiers qui fournit des données (ici, une API d'animaux a servi à alimenter le site).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GLOSSAIRE :</a:t>
            </a:r>
          </a:p>
          <a:p>
            <a:r>
              <a:t>• Hacher (hachage) : transformer un mot de passe en empreinte illisible et non réversible ; on ne stocke jamais le vrai mot de passe.</a:t>
            </a:r>
          </a:p>
          <a:p>
            <a:r>
              <a:t>• bcrypt : algorithme de hachage spécialement conçu pour les mots de passe (volontairement lent, donc difficile à casser).</a:t>
            </a:r>
          </a:p>
          <a:p>
            <a:r>
              <a:t>• Poivre (pepper) : secret ajouté avant le hachage, gardé hors de la base, pour renforcer la sécurité.</a:t>
            </a:r>
          </a:p>
          <a:p>
            <a:r>
              <a:t>• JWT (jeton) : petit jeton signé envoyé à chaque requête pour prouver qu'on est bien connecté.</a:t>
            </a:r>
          </a:p>
          <a:p>
            <a:r>
              <a:t>• Injection SQL : attaque qui glisse du code malveillant dans une requête à la base ; les « requêtes préparées » l'empêchent.</a:t>
            </a:r>
          </a:p>
          <a:p>
            <a:r>
              <a:t>• Requête préparée : requête où les valeurs saisies sont traitées comme des données, jamais comme du code.</a:t>
            </a:r>
          </a:p>
          <a:p>
            <a:r>
              <a:t>• XSS (cross-site scripting) : attaque qui injecte un script dans une page ; « échapper » le texte (neutraliser les caractères spéciaux) l'empêche.</a:t>
            </a:r>
          </a:p>
          <a:p>
            <a:r>
              <a:t>• helmet : outil qui ajoute des en-têtes de sécurité au serveur.</a:t>
            </a:r>
          </a:p>
          <a:p>
            <a:r>
              <a:t>• Brute-force : essayer des milliers de mots de passe ; la limitation de tentatives (rate-limiting) freine cette attaque.</a:t>
            </a:r>
          </a:p>
          <a:p>
            <a:r>
              <a:t>• Erreur 500 : erreur serveur ; une bonne gestion des erreurs évite que le site « plante ».</a:t>
            </a:r>
          </a:p>
          <a:p>
            <a:r>
              <a:t>• CRUD : les 4 opérations de base sur des données — Créer, Lire, Modifier, Supprimer (Create, Read, Update, Delete).</a:t>
            </a:r>
          </a:p>
          <a:p>
            <a:r>
              <a:t>• Responsive : qui s'adapte automatiquement à la taille de l'écran.</a:t>
            </a:r>
          </a:p>
          <a:p>
            <a:r>
              <a:t>• Back-office : l'espace d'administration, réservé aux gestionnaires du 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de clôture — enchaîner sur la démonstration (≈ 7 min) : création d'un profil animal, feed,</a:t>
            </a:r>
          </a:p>
          <a:p>
            <a:r>
              <a:t>évènements (inscription + avis), Pet's Shop, et espace administrateur (CRUD).</a:t>
            </a:r>
          </a:p>
          <a:p>
            <a:r>
              <a:t>Pas de terme technique nouveau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93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71655" y="0"/>
            <a:ext cx="320040" cy="6858000"/>
          </a:xfrm>
          <a:prstGeom prst="rect">
            <a:avLst/>
          </a:prstGeom>
          <a:solidFill>
            <a:srgbClr val="B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ets_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2887" y="640080"/>
            <a:ext cx="1645920" cy="1645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2468880"/>
            <a:ext cx="9997135" cy="13716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5400" b="1" i="0">
                <a:solidFill>
                  <a:srgbClr val="FFFFFF"/>
                </a:solidFill>
                <a:latin typeface="Georgia"/>
              </a:rPr>
              <a:t>Pet's Book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BF8A6B"/>
                </a:solidFill>
                <a:latin typeface="Segoe UI"/>
              </a:rPr>
              <a:t>Réseau social dédié aux animaux  ·  refonte fullstack 2021 →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114800"/>
            <a:ext cx="9997135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F6F1EC"/>
                </a:solidFill>
                <a:latin typeface="Segoe UI"/>
              </a:rPr>
              <a:t>Titre RNCP 37273 « Développeur web fullstack »</a:t>
            </a:r>
          </a:p>
          <a:p>
            <a:pPr algn="ctr">
              <a:spcBef>
                <a:spcPts val="0"/>
              </a:spcBef>
              <a:spcAft>
                <a:spcPts val="1200"/>
              </a:spcAft>
            </a:pPr>
            <a:r>
              <a:rPr sz="1400" b="0" i="0">
                <a:solidFill>
                  <a:srgbClr val="D9D6D2"/>
                </a:solidFill>
                <a:latin typeface="Segoe UI"/>
              </a:rPr>
              <a:t>Bloc 2 — Développer des interfaces frontend pour un site / une application web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Manon Sigaud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93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0"/>
            <a:ext cx="11277295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Georgia"/>
              </a:rPr>
              <a:t>Sommaire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534095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593B"/>
                </a:solidFill>
                <a:latin typeface="Segoe UI"/>
              </a:rPr>
              <a:t>Pet's Book — réseau social dédié aux animaux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6473952"/>
            <a:ext cx="27889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>
                <a:solidFill>
                  <a:srgbClr val="8C593B"/>
                </a:solidFill>
                <a:latin typeface="Segoe UI"/>
              </a:rPr>
              <a:t>RNCP 37273 · Bloc 2 · 01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298448"/>
            <a:ext cx="475488" cy="475488"/>
          </a:xfrm>
          <a:prstGeom prst="ellipse">
            <a:avLst/>
          </a:prstGeom>
          <a:solidFill>
            <a:srgbClr val="B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98448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261872"/>
            <a:ext cx="10088575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593A28"/>
                </a:solidFill>
                <a:latin typeface="Segoe UI"/>
              </a:rPr>
              <a:t>Le projet à ses débuts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C593B"/>
                </a:solidFill>
                <a:latin typeface="Segoe UI"/>
              </a:rPr>
              <a:t>Idée de départ &amp; cahier des charges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1901952"/>
            <a:ext cx="475488" cy="475488"/>
          </a:xfrm>
          <a:prstGeom prst="ellipse">
            <a:avLst/>
          </a:prstGeom>
          <a:solidFill>
            <a:srgbClr val="B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01952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865376"/>
            <a:ext cx="10088575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593A28"/>
                </a:solidFill>
                <a:latin typeface="Segoe UI"/>
              </a:rPr>
              <a:t>Conception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C593B"/>
                </a:solidFill>
                <a:latin typeface="Segoe UI"/>
              </a:rPr>
              <a:t>Personas, moodboard, charte graphique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505456"/>
            <a:ext cx="475488" cy="475488"/>
          </a:xfrm>
          <a:prstGeom prst="ellipse">
            <a:avLst/>
          </a:prstGeom>
          <a:solidFill>
            <a:srgbClr val="B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505456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468880"/>
            <a:ext cx="10088575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593A28"/>
                </a:solidFill>
                <a:latin typeface="Segoe UI"/>
              </a:rPr>
              <a:t>Avant / après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C593B"/>
                </a:solidFill>
                <a:latin typeface="Segoe UI"/>
              </a:rPr>
              <a:t>L'évolution du site en un coup d'œil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108960"/>
            <a:ext cx="475488" cy="475488"/>
          </a:xfrm>
          <a:prstGeom prst="ellipse">
            <a:avLst/>
          </a:prstGeom>
          <a:solidFill>
            <a:srgbClr val="B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10896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072384"/>
            <a:ext cx="10088575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593A28"/>
                </a:solidFill>
                <a:latin typeface="Segoe UI"/>
              </a:rPr>
              <a:t>Choix techniques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C593B"/>
                </a:solidFill>
                <a:latin typeface="Segoe UI"/>
              </a:rPr>
              <a:t>Technologies utilisées et pourquoi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3712464"/>
            <a:ext cx="475488" cy="475488"/>
          </a:xfrm>
          <a:prstGeom prst="ellipse">
            <a:avLst/>
          </a:prstGeom>
          <a:solidFill>
            <a:srgbClr val="B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71246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675888"/>
            <a:ext cx="10088575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593A28"/>
                </a:solidFill>
                <a:latin typeface="Segoe UI"/>
              </a:rPr>
              <a:t>Fonctionnement (UML)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C593B"/>
                </a:solidFill>
                <a:latin typeface="Segoe UI"/>
              </a:rPr>
              <a:t>Diagramme de cas d'utilisation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4315968"/>
            <a:ext cx="475488" cy="475488"/>
          </a:xfrm>
          <a:prstGeom prst="ellipse">
            <a:avLst/>
          </a:prstGeom>
          <a:solidFill>
            <a:srgbClr val="B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315968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279392"/>
            <a:ext cx="10088575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593A28"/>
                </a:solidFill>
                <a:latin typeface="Segoe UI"/>
              </a:rPr>
              <a:t>Les compétences du Bloc 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C593B"/>
                </a:solidFill>
                <a:latin typeface="Segoe UI"/>
              </a:rPr>
              <a:t>Éco-conception, SCSS, HTML, JavaScript</a:t>
            </a:r>
          </a:p>
        </p:txBody>
      </p:sp>
      <p:sp>
        <p:nvSpPr>
          <p:cNvPr id="26" name="Oval 25"/>
          <p:cNvSpPr/>
          <p:nvPr/>
        </p:nvSpPr>
        <p:spPr>
          <a:xfrm>
            <a:off x="777240" y="4919472"/>
            <a:ext cx="475488" cy="475488"/>
          </a:xfrm>
          <a:prstGeom prst="ellipse">
            <a:avLst/>
          </a:prstGeom>
          <a:solidFill>
            <a:srgbClr val="B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919472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Georgia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4882896"/>
            <a:ext cx="10088575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593A28"/>
                </a:solidFill>
                <a:latin typeface="Segoe UI"/>
              </a:rPr>
              <a:t>Qualité &amp; sécurité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C593B"/>
                </a:solidFill>
                <a:latin typeface="Segoe UI"/>
              </a:rPr>
              <a:t>Les points forts du projet</a:t>
            </a:r>
          </a:p>
        </p:txBody>
      </p:sp>
      <p:sp>
        <p:nvSpPr>
          <p:cNvPr id="29" name="Oval 28"/>
          <p:cNvSpPr/>
          <p:nvPr/>
        </p:nvSpPr>
        <p:spPr>
          <a:xfrm>
            <a:off x="777240" y="5522976"/>
            <a:ext cx="475488" cy="475488"/>
          </a:xfrm>
          <a:prstGeom prst="ellipse">
            <a:avLst/>
          </a:prstGeom>
          <a:solidFill>
            <a:srgbClr val="B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522976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Georgia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5486400"/>
            <a:ext cx="10088575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593A28"/>
                </a:solidFill>
                <a:latin typeface="Segoe UI"/>
              </a:rPr>
              <a:t>Démonstration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C593B"/>
                </a:solidFill>
                <a:latin typeface="Segoe UI"/>
              </a:rPr>
              <a:t>Place au live 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93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27729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93A28"/>
                </a:solidFill>
                <a:latin typeface="Segoe UI"/>
              </a:rPr>
              <a:t>L'IDÉE &amp; LE CAHIER DES CHARGES (2021)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277295" cy="60350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Georgia"/>
              </a:rPr>
              <a:t>Le projet à ses débuts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534095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593B"/>
                </a:solidFill>
                <a:latin typeface="Segoe UI"/>
              </a:rPr>
              <a:t>Pet's Book — réseau social dédié aux animaux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9855" y="6473952"/>
            <a:ext cx="27889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>
                <a:solidFill>
                  <a:srgbClr val="8C593B"/>
                </a:solidFill>
                <a:latin typeface="Segoe UI"/>
              </a:rPr>
              <a:t>RNCP 37273 · Bloc 2 ·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5852160" cy="4754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593A28"/>
                </a:solidFill>
                <a:latin typeface="Georgia"/>
              </a:rPr>
              <a:t>L'idée de départ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1">
                <a:solidFill>
                  <a:srgbClr val="8C593B"/>
                </a:solidFill>
                <a:latin typeface="Segoe UI"/>
              </a:rPr>
              <a:t>« Répertorier tous les animaux domestiques sur une seule plateforme. »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593A28"/>
                </a:solidFill>
                <a:latin typeface="Segoe UI"/>
              </a:rPr>
              <a:t>•  un profil pour chaque animal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593A28"/>
                </a:solidFill>
                <a:latin typeface="Segoe UI"/>
              </a:rPr>
              <a:t>•  sensibiliser à la protection : identification (puce) et stérilisation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593A28"/>
                </a:solidFill>
                <a:latin typeface="Segoe UI"/>
              </a:rPr>
              <a:t>•  condition d'entrée : justifier si l'animal n'est pas identifié / stérilisé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593A28"/>
                </a:solidFill>
                <a:latin typeface="Segoe UI"/>
              </a:rPr>
              <a:t>•  un espace pour les pros : vétérinaires, associations, refuges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371600"/>
            <a:ext cx="4754880" cy="4754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593A28"/>
                </a:solidFill>
                <a:latin typeface="Georgia"/>
              </a:rPr>
              <a:t>Le cahier des charges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593A28"/>
                </a:solidFill>
                <a:latin typeface="Segoe UI"/>
              </a:rPr>
              <a:t>•  Type : </a:t>
            </a:r>
            <a:r>
              <a:rPr sz="1350">
                <a:solidFill>
                  <a:srgbClr val="593A28"/>
                </a:solidFill>
                <a:latin typeface="Segoe UI"/>
              </a:rPr>
              <a:t>plateforme de réseau social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593A28"/>
                </a:solidFill>
                <a:latin typeface="Segoe UI"/>
              </a:rPr>
              <a:t>•  Équipe : </a:t>
            </a:r>
            <a:r>
              <a:rPr sz="1350">
                <a:solidFill>
                  <a:srgbClr val="593A28"/>
                </a:solidFill>
                <a:latin typeface="Segoe UI"/>
              </a:rPr>
              <a:t>projet de groupe (3 personnes), 1re formation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593A28"/>
                </a:solidFill>
                <a:latin typeface="Segoe UI"/>
              </a:rPr>
              <a:t>•  Cibles : </a:t>
            </a:r>
            <a:r>
              <a:rPr sz="1350">
                <a:solidFill>
                  <a:srgbClr val="593A28"/>
                </a:solidFill>
                <a:latin typeface="Segoe UI"/>
              </a:rPr>
              <a:t>propriétaires d'animaux + professionnels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593A28"/>
                </a:solidFill>
                <a:latin typeface="Segoe UI"/>
              </a:rPr>
              <a:t>•  Périmètre : </a:t>
            </a:r>
            <a:r>
              <a:rPr sz="1350">
                <a:solidFill>
                  <a:srgbClr val="593A28"/>
                </a:solidFill>
                <a:latin typeface="Segoe UI"/>
              </a:rPr>
              <a:t>création de comptes, géolocalisation, profils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593A28"/>
                </a:solidFill>
                <a:latin typeface="Segoe UI"/>
              </a:rPr>
              <a:t>•  Prévu « pour plus tard » : </a:t>
            </a:r>
            <a:r>
              <a:rPr sz="1350">
                <a:solidFill>
                  <a:srgbClr val="593A28"/>
                </a:solidFill>
                <a:latin typeface="Segoe UI"/>
              </a:rPr>
              <a:t>boutique et version multilingue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250" b="1" i="0">
                <a:solidFill>
                  <a:srgbClr val="4F7942"/>
                </a:solidFill>
                <a:latin typeface="Segoe UI"/>
              </a:rPr>
              <a:t>→ Beaucoup de ces idées sont aujourd'hui réalisées (score de protection, Pages pros, boutique…).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93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27729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93A28"/>
                </a:solidFill>
                <a:latin typeface="Segoe UI"/>
              </a:rPr>
              <a:t>COMPRENDRE LES UTILISATEURS &amp; L'AMBIANCE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277295" cy="60350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Georgia"/>
              </a:rPr>
              <a:t>Conception — personas &amp; moodboard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534095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593B"/>
                </a:solidFill>
                <a:latin typeface="Segoe UI"/>
              </a:rPr>
              <a:t>Pet's Book — réseau social dédié aux animaux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9855" y="6473952"/>
            <a:ext cx="27889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>
                <a:solidFill>
                  <a:srgbClr val="8C593B"/>
                </a:solidFill>
                <a:latin typeface="Segoe UI"/>
              </a:rPr>
              <a:t>RNCP 37273 · Bloc 2 ·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593A28"/>
                </a:solidFill>
                <a:latin typeface="Georgia"/>
              </a:rPr>
              <a:t>Personas (utilisateurs cibles)</a:t>
            </a:r>
          </a:p>
        </p:txBody>
      </p:sp>
      <p:pic>
        <p:nvPicPr>
          <p:cNvPr id="10" name="Picture 9" descr="6. Personas Pet's 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43150"/>
            <a:ext cx="5486400" cy="3086100"/>
          </a:xfrm>
          <a:prstGeom prst="rect">
            <a:avLst/>
          </a:prstGeom>
          <a:ln w="19050">
            <a:solidFill>
              <a:srgbClr val="593A28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400800" y="1280160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593A28"/>
                </a:solidFill>
                <a:latin typeface="Georgia"/>
              </a:rPr>
              <a:t>Moodboard (direction visuelle)</a:t>
            </a:r>
          </a:p>
        </p:txBody>
      </p:sp>
      <p:pic>
        <p:nvPicPr>
          <p:cNvPr id="12" name="Picture 11" descr="7. Moodboard pet's 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446020"/>
            <a:ext cx="5120640" cy="2880359"/>
          </a:xfrm>
          <a:prstGeom prst="rect">
            <a:avLst/>
          </a:prstGeom>
          <a:ln w="19050">
            <a:solidFill>
              <a:srgbClr val="593A28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93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27729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93A28"/>
                </a:solidFill>
                <a:latin typeface="Segoe UI"/>
              </a:rPr>
              <a:t>L'IDENTITÉ VISUELLE DE PET'S 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277295" cy="60350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Georgia"/>
              </a:rPr>
              <a:t>Conception — la charte graphique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534095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593B"/>
                </a:solidFill>
                <a:latin typeface="Segoe UI"/>
              </a:rPr>
              <a:t>Pet's Book — réseau social dédié aux animaux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9855" y="6473952"/>
            <a:ext cx="27889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>
                <a:solidFill>
                  <a:srgbClr val="8C593B"/>
                </a:solidFill>
                <a:latin typeface="Segoe UI"/>
              </a:rPr>
              <a:t>RNCP 37273 · Bloc 2 ·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5120640" cy="4572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593A28"/>
                </a:solidFill>
                <a:latin typeface="Georgia"/>
              </a:rPr>
              <a:t>Une identité chaleureuse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93A28"/>
                </a:solidFill>
                <a:latin typeface="Segoe UI"/>
              </a:rPr>
              <a:t>•  palette caramel et marron, douce et naturelle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93A28"/>
                </a:solidFill>
                <a:latin typeface="Segoe UI"/>
              </a:rPr>
              <a:t>•  typographie : Cinzel (titres) + Quicksand (texte)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93A28"/>
                </a:solidFill>
                <a:latin typeface="Segoe UI"/>
              </a:rPr>
              <a:t>•  logo et icônes dessinés pour la marque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250" b="1" i="0">
                <a:solidFill>
                  <a:srgbClr val="4F7942"/>
                </a:solidFill>
                <a:latin typeface="Segoe UI"/>
              </a:rPr>
              <a:t>Conservée dans la refonte : même âme, exécution modernisée — ces couleurs sont celles de cette présentation.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371600"/>
            <a:ext cx="5394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593A28"/>
                </a:solidFill>
                <a:latin typeface="Georgia"/>
              </a:rPr>
              <a:t>Couleurs de la marque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920240"/>
            <a:ext cx="1005840" cy="731520"/>
          </a:xfrm>
          <a:prstGeom prst="roundRect">
            <a:avLst/>
          </a:prstGeom>
          <a:solidFill>
            <a:srgbClr val="593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1920240"/>
            <a:ext cx="402336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93A28"/>
                </a:solidFill>
                <a:latin typeface="Segoe UI"/>
              </a:rPr>
              <a:t>Marron foncé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C593B"/>
                </a:solidFill>
                <a:latin typeface="Segoe UI"/>
              </a:rPr>
              <a:t>#593A28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816352"/>
            <a:ext cx="1005840" cy="731520"/>
          </a:xfrm>
          <a:prstGeom prst="roundRect">
            <a:avLst/>
          </a:prstGeom>
          <a:solidFill>
            <a:srgbClr val="8C5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2816352"/>
            <a:ext cx="402336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93A28"/>
                </a:solidFill>
                <a:latin typeface="Segoe UI"/>
              </a:rPr>
              <a:t>Marron moyen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C593B"/>
                </a:solidFill>
                <a:latin typeface="Segoe UI"/>
              </a:rPr>
              <a:t>#8C593B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712464"/>
            <a:ext cx="1005840" cy="731520"/>
          </a:xfrm>
          <a:prstGeom prst="roundRect">
            <a:avLst/>
          </a:prstGeom>
          <a:solidFill>
            <a:srgbClr val="B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3712464"/>
            <a:ext cx="402336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93A28"/>
                </a:solidFill>
                <a:latin typeface="Segoe UI"/>
              </a:rPr>
              <a:t>Caramel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C593B"/>
                </a:solidFill>
                <a:latin typeface="Segoe UI"/>
              </a:rPr>
              <a:t>#BF8A6B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4608576"/>
            <a:ext cx="1005840" cy="731520"/>
          </a:xfrm>
          <a:prstGeom prst="roundRect">
            <a:avLst/>
          </a:prstGeom>
          <a:solidFill>
            <a:srgbClr val="D9D6D2"/>
          </a:solidFill>
          <a:ln w="15875">
            <a:solidFill>
              <a:srgbClr val="59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4608576"/>
            <a:ext cx="402336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93A28"/>
                </a:solidFill>
                <a:latin typeface="Segoe UI"/>
              </a:rPr>
              <a:t>Beige clair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C593B"/>
                </a:solidFill>
                <a:latin typeface="Segoe UI"/>
              </a:rPr>
              <a:t>#D9D6D2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5532120"/>
            <a:ext cx="539496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593A28"/>
                </a:solidFill>
                <a:latin typeface="Georgia"/>
              </a:rPr>
              <a:t>Cinzel — titres élégants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C593B"/>
                </a:solidFill>
                <a:latin typeface="Segoe UI"/>
              </a:rPr>
              <a:t>Quicksand — texte courant, lisible et rond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93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27729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93A28"/>
                </a:solidFill>
                <a:latin typeface="Segoe UI"/>
              </a:rPr>
              <a:t>L'ÉVOLUTION DU SITE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277295" cy="60350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Georgia"/>
              </a:rPr>
              <a:t>Avant / après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534095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593B"/>
                </a:solidFill>
                <a:latin typeface="Segoe UI"/>
              </a:rPr>
              <a:t>Pet's Book — réseau social dédié aux animaux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9855" y="6473952"/>
            <a:ext cx="27889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>
                <a:solidFill>
                  <a:srgbClr val="8C593B"/>
                </a:solidFill>
                <a:latin typeface="Segoe UI"/>
              </a:rPr>
              <a:t>RNCP 37273 · Bloc 2 ·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234440"/>
            <a:ext cx="40233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8C593B"/>
                </a:solidFill>
                <a:latin typeface="Segoe UI"/>
              </a:rPr>
              <a:t>2021 — site d'origine (statique)</a:t>
            </a:r>
          </a:p>
        </p:txBody>
      </p:sp>
      <p:pic>
        <p:nvPicPr>
          <p:cNvPr id="10" name="Picture 9" descr="Pet's Book — Version 1 (site d'origine)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2828" y="1645920"/>
            <a:ext cx="2178022" cy="3931920"/>
          </a:xfrm>
          <a:prstGeom prst="rect">
            <a:avLst/>
          </a:prstGeom>
          <a:ln w="19050">
            <a:solidFill>
              <a:srgbClr val="593A28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858000" y="1234440"/>
            <a:ext cx="40233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593A28"/>
                </a:solidFill>
                <a:latin typeface="Segoe UI"/>
              </a:rPr>
              <a:t>2026 — application fullstack</a:t>
            </a:r>
          </a:p>
        </p:txBody>
      </p:sp>
      <p:pic>
        <p:nvPicPr>
          <p:cNvPr id="12" name="Picture 11" descr="Pet's Book — Application (nouvelle version)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0407" y="1645920"/>
            <a:ext cx="2898544" cy="3931920"/>
          </a:xfrm>
          <a:prstGeom prst="rect">
            <a:avLst/>
          </a:prstGeom>
          <a:ln w="19050">
            <a:solidFill>
              <a:srgbClr val="593A28"/>
            </a:solidFill>
          </a:ln>
        </p:spPr>
      </p:pic>
      <p:sp>
        <p:nvSpPr>
          <p:cNvPr id="13" name="Right Arrow 12"/>
          <p:cNvSpPr/>
          <p:nvPr/>
        </p:nvSpPr>
        <p:spPr>
          <a:xfrm>
            <a:off x="5532120" y="3291840"/>
            <a:ext cx="1097280" cy="640080"/>
          </a:xfrm>
          <a:prstGeom prst="rightArrow">
            <a:avLst/>
          </a:prstGeom>
          <a:solidFill>
            <a:srgbClr val="B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93A28"/>
                </a:solidFill>
                <a:latin typeface="Segoe UI"/>
              </a:rPr>
              <a:t>Même identité visuelle — d'une vitrine figée à une application vivante alimentée par un vrai back-end.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93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27729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93A28"/>
                </a:solidFill>
                <a:latin typeface="Segoe UI"/>
              </a:rPr>
              <a:t>DES CHOIX MAÎTRISÉS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277295" cy="60350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Georgia"/>
              </a:rPr>
              <a:t>Technologies utilisées — et pourquoi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534095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593B"/>
                </a:solidFill>
                <a:latin typeface="Segoe UI"/>
              </a:rPr>
              <a:t>Pet's Book — réseau social dédié aux animaux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9855" y="6473952"/>
            <a:ext cx="27889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>
                <a:solidFill>
                  <a:srgbClr val="8C593B"/>
                </a:solidFill>
                <a:latin typeface="Segoe UI"/>
              </a:rPr>
              <a:t>RNCP 37273 · Bloc 2 ·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5486400" cy="4754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BF8A6B"/>
                </a:solidFill>
                <a:latin typeface="Georgia"/>
              </a:rPr>
              <a:t>Frontend (côté navigateur)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593A28"/>
                </a:solidFill>
                <a:latin typeface="Segoe UI"/>
              </a:rPr>
              <a:t>•  Vite : </a:t>
            </a:r>
            <a:r>
              <a:rPr sz="1350">
                <a:solidFill>
                  <a:srgbClr val="593A28"/>
                </a:solidFill>
                <a:latin typeface="Segoe UI"/>
              </a:rPr>
              <a:t>outil de build moderne, rechargement instantané pendant le dev.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593A28"/>
                </a:solidFill>
                <a:latin typeface="Segoe UI"/>
              </a:rPr>
              <a:t>•  SCSS : </a:t>
            </a:r>
            <a:r>
              <a:rPr sz="1350">
                <a:solidFill>
                  <a:srgbClr val="593A28"/>
                </a:solidFill>
                <a:latin typeface="Segoe UI"/>
              </a:rPr>
              <a:t>du CSS plus puissant (variables, organisation, réutilisation).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593A28"/>
                </a:solidFill>
                <a:latin typeface="Segoe UI"/>
              </a:rPr>
              <a:t>•  JavaScript ES6 : </a:t>
            </a:r>
            <a:r>
              <a:rPr sz="1350">
                <a:solidFill>
                  <a:srgbClr val="593A28"/>
                </a:solidFill>
                <a:latin typeface="Segoe UI"/>
              </a:rPr>
              <a:t>pour maîtriser le langage sans dépendre d'un framework.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5120640" cy="4754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BF8A6B"/>
                </a:solidFill>
                <a:latin typeface="Georgia"/>
              </a:rPr>
              <a:t>Backend (côté serveur)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593A28"/>
                </a:solidFill>
                <a:latin typeface="Segoe UI"/>
              </a:rPr>
              <a:t>•  Node.js : </a:t>
            </a:r>
            <a:r>
              <a:rPr sz="1350">
                <a:solidFill>
                  <a:srgbClr val="593A28"/>
                </a:solidFill>
                <a:latin typeface="Segoe UI"/>
              </a:rPr>
              <a:t>l'environnement qui exécute le JavaScript côté serveur.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593A28"/>
                </a:solidFill>
                <a:latin typeface="Segoe UI"/>
              </a:rPr>
              <a:t>•  Express : </a:t>
            </a:r>
            <a:r>
              <a:rPr sz="1350">
                <a:solidFill>
                  <a:srgbClr val="593A28"/>
                </a:solidFill>
                <a:latin typeface="Segoe UI"/>
              </a:rPr>
              <a:t>construit l'API (les routes qui fournissent les données).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593A28"/>
                </a:solidFill>
                <a:latin typeface="Segoe UI"/>
              </a:rPr>
              <a:t>•  SQLite : </a:t>
            </a:r>
            <a:r>
              <a:rPr sz="1350">
                <a:solidFill>
                  <a:srgbClr val="593A28"/>
                </a:solidFill>
                <a:latin typeface="Segoe UI"/>
              </a:rPr>
              <a:t>base de données légère, sans serveur séparé — idéale pour le projet.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593A28"/>
                </a:solidFill>
                <a:latin typeface="Segoe UI"/>
              </a:rPr>
              <a:t>•  bcrypt + JWT : </a:t>
            </a:r>
            <a:r>
              <a:rPr sz="1350">
                <a:solidFill>
                  <a:srgbClr val="593A28"/>
                </a:solidFill>
                <a:latin typeface="Segoe UI"/>
              </a:rPr>
              <a:t>sécurisent les mots de passe et les sessions.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F7942"/>
                </a:solidFill>
                <a:latin typeface="Segoe UI"/>
              </a:rPr>
              <a:t>Pas de Bootstrap ni de framework back-end non maîtrisé : des outils choisis et compris.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93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27729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93A28"/>
                </a:solidFill>
                <a:latin typeface="Segoe UI"/>
              </a:rPr>
              <a:t>CAS D'UTILISATION : QUI PEUT FAIRE QUOI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277295" cy="60350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Georgia"/>
              </a:rPr>
              <a:t>Comment fonctionne le site — diagramme UML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534095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593B"/>
                </a:solidFill>
                <a:latin typeface="Segoe UI"/>
              </a:rPr>
              <a:t>Pet's Book — réseau social dédié aux animaux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9855" y="6473952"/>
            <a:ext cx="27889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>
                <a:solidFill>
                  <a:srgbClr val="8C593B"/>
                </a:solidFill>
                <a:latin typeface="Segoe UI"/>
              </a:rPr>
              <a:t>RNCP 37273 · Bloc 2 · 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1371600"/>
            <a:ext cx="7040880" cy="4663440"/>
          </a:xfrm>
          <a:prstGeom prst="roundRect">
            <a:avLst/>
          </a:prstGeom>
          <a:solidFill>
            <a:srgbClr val="F6F1EC"/>
          </a:solidFill>
          <a:ln w="15875">
            <a:solidFill>
              <a:srgbClr val="BF8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46304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8C593B"/>
                </a:solidFill>
                <a:latin typeface="Segoe UI"/>
              </a:rPr>
              <a:t>Système — Pet's Book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65960"/>
            <a:ext cx="1691640" cy="566928"/>
          </a:xfrm>
          <a:prstGeom prst="roundRect">
            <a:avLst/>
          </a:prstGeom>
          <a:solidFill>
            <a:srgbClr val="B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👤  Visiteur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657600"/>
            <a:ext cx="1691640" cy="566928"/>
          </a:xfrm>
          <a:prstGeom prst="roundRect">
            <a:avLst/>
          </a:prstGeom>
          <a:solidFill>
            <a:srgbClr val="8C5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👤  Membre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29800" y="4480560"/>
            <a:ext cx="1783080" cy="566928"/>
          </a:xfrm>
          <a:prstGeom prst="roundRect">
            <a:avLst/>
          </a:prstGeom>
          <a:solidFill>
            <a:srgbClr val="593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👤  Administrateur</a:t>
            </a:r>
          </a:p>
        </p:txBody>
      </p:sp>
      <p:sp>
        <p:nvSpPr>
          <p:cNvPr id="14" name="Oval 13"/>
          <p:cNvSpPr/>
          <p:nvPr/>
        </p:nvSpPr>
        <p:spPr>
          <a:xfrm>
            <a:off x="3977639" y="1828800"/>
            <a:ext cx="42062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5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593A28"/>
                </a:solidFill>
                <a:latin typeface="Segoe UI"/>
              </a:rPr>
              <a:t>S'inscrire / se connecter</a:t>
            </a:r>
          </a:p>
        </p:txBody>
      </p:sp>
      <p:sp>
        <p:nvSpPr>
          <p:cNvPr id="15" name="Oval 14"/>
          <p:cNvSpPr/>
          <p:nvPr/>
        </p:nvSpPr>
        <p:spPr>
          <a:xfrm>
            <a:off x="3977639" y="2478024"/>
            <a:ext cx="42062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5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593A28"/>
                </a:solidFill>
                <a:latin typeface="Segoe UI"/>
              </a:rPr>
              <a:t>Gérer ses profils animaux</a:t>
            </a:r>
          </a:p>
        </p:txBody>
      </p:sp>
      <p:sp>
        <p:nvSpPr>
          <p:cNvPr id="16" name="Oval 15"/>
          <p:cNvSpPr/>
          <p:nvPr/>
        </p:nvSpPr>
        <p:spPr>
          <a:xfrm>
            <a:off x="3977639" y="3127248"/>
            <a:ext cx="42062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5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593A28"/>
                </a:solidFill>
                <a:latin typeface="Segoe UI"/>
              </a:rPr>
              <a:t>Publier &amp; se faire des copains</a:t>
            </a:r>
          </a:p>
        </p:txBody>
      </p:sp>
      <p:sp>
        <p:nvSpPr>
          <p:cNvPr id="17" name="Oval 16"/>
          <p:cNvSpPr/>
          <p:nvPr/>
        </p:nvSpPr>
        <p:spPr>
          <a:xfrm>
            <a:off x="3977639" y="3776472"/>
            <a:ext cx="42062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5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593A28"/>
                </a:solidFill>
                <a:latin typeface="Segoe UI"/>
              </a:rPr>
              <a:t>S'inscrire à un évènement &amp; laisser un avis ★</a:t>
            </a:r>
          </a:p>
        </p:txBody>
      </p:sp>
      <p:sp>
        <p:nvSpPr>
          <p:cNvPr id="18" name="Oval 17"/>
          <p:cNvSpPr/>
          <p:nvPr/>
        </p:nvSpPr>
        <p:spPr>
          <a:xfrm>
            <a:off x="3977639" y="4425696"/>
            <a:ext cx="42062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5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593A28"/>
                </a:solidFill>
                <a:latin typeface="Segoe UI"/>
              </a:rPr>
              <a:t>Acheter / vendre (Pet's Shop)</a:t>
            </a:r>
          </a:p>
        </p:txBody>
      </p:sp>
      <p:sp>
        <p:nvSpPr>
          <p:cNvPr id="19" name="Oval 18"/>
          <p:cNvSpPr/>
          <p:nvPr/>
        </p:nvSpPr>
        <p:spPr>
          <a:xfrm>
            <a:off x="3977639" y="5074920"/>
            <a:ext cx="42062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5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593A28"/>
                </a:solidFill>
                <a:latin typeface="Segoe UI"/>
              </a:rPr>
              <a:t>Modérer profils &amp; annonces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2194560" y="2103120"/>
            <a:ext cx="1783079" cy="146304"/>
          </a:xfrm>
          <a:prstGeom prst="line">
            <a:avLst/>
          </a:prstGeom>
          <a:ln w="19050">
            <a:solidFill>
              <a:srgbClr val="8C5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4560" y="2752344"/>
            <a:ext cx="1783079" cy="1188719"/>
          </a:xfrm>
          <a:prstGeom prst="line">
            <a:avLst/>
          </a:prstGeom>
          <a:ln w="19050">
            <a:solidFill>
              <a:srgbClr val="8C5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194560" y="3401568"/>
            <a:ext cx="1783079" cy="539495"/>
          </a:xfrm>
          <a:prstGeom prst="line">
            <a:avLst/>
          </a:prstGeom>
          <a:ln w="19050">
            <a:solidFill>
              <a:srgbClr val="8C5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194560" y="3941063"/>
            <a:ext cx="1783079" cy="109728"/>
          </a:xfrm>
          <a:prstGeom prst="line">
            <a:avLst/>
          </a:prstGeom>
          <a:ln w="19050">
            <a:solidFill>
              <a:srgbClr val="8C5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194560" y="3941063"/>
            <a:ext cx="1783079" cy="758953"/>
          </a:xfrm>
          <a:prstGeom prst="line">
            <a:avLst/>
          </a:prstGeom>
          <a:ln w="19050">
            <a:solidFill>
              <a:srgbClr val="8C5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8183879" y="4764024"/>
            <a:ext cx="1645921" cy="585216"/>
          </a:xfrm>
          <a:prstGeom prst="line">
            <a:avLst/>
          </a:prstGeom>
          <a:ln w="19050">
            <a:solidFill>
              <a:srgbClr val="8C5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697480" y="5742432"/>
            <a:ext cx="67665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8C593B"/>
                </a:solidFill>
                <a:latin typeface="Segoe UI"/>
              </a:rPr>
              <a:t>L'administrateur est aussi un membre (il peut tout faire, plus la modération).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93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27729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93A28"/>
                </a:solidFill>
                <a:latin typeface="Segoe UI"/>
              </a:rPr>
              <a:t>UN SITE PLUS LÉGER, PLUS RAPIDE, PLUS SOBRE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277295" cy="60350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Georgia"/>
              </a:rPr>
              <a:t>Éco-conception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534095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593B"/>
                </a:solidFill>
                <a:latin typeface="Segoe UI"/>
              </a:rPr>
              <a:t>Pet's Book — réseau social dédié aux animaux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9855" y="6473952"/>
            <a:ext cx="27889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>
                <a:solidFill>
                  <a:srgbClr val="8C593B"/>
                </a:solidFill>
                <a:latin typeface="Segoe UI"/>
              </a:rPr>
              <a:t>RNCP 37273 · Bloc 2 ·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8C593B"/>
                </a:solidFill>
                <a:latin typeface="Segoe UI"/>
              </a:rPr>
              <a:t>Concevoir le site pour qu'il consomme moins de ressources (données, énergie) tout en restant rapide et accessible.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5486400" cy="3657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/>
          <a:p>
            <a:pPr>
              <a:spcAft>
                <a:spcPts val="900"/>
              </a:spcAft>
            </a:pPr>
            <a:r>
              <a:rPr sz="1400" b="1">
                <a:solidFill>
                  <a:srgbClr val="4F7942"/>
                </a:solidFill>
                <a:latin typeface="Segoe UI"/>
              </a:rPr>
              <a:t>✓  </a:t>
            </a:r>
            <a:r>
              <a:rPr sz="1400" b="1">
                <a:solidFill>
                  <a:srgbClr val="593A28"/>
                </a:solidFill>
                <a:latin typeface="Segoe UI"/>
              </a:rPr>
              <a:t>Images optimisées + chargement différé (lazy-load)</a:t>
            </a:r>
            <a:r>
              <a:rPr sz="1350">
                <a:solidFill>
                  <a:srgbClr val="8C593B"/>
                </a:solidFill>
                <a:latin typeface="Segoe UI"/>
              </a:rPr>
              <a:t> — elles ne se chargent que lorsqu'elles deviennent visibles.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4F7942"/>
                </a:solidFill>
                <a:latin typeface="Segoe UI"/>
              </a:rPr>
              <a:t>✓  </a:t>
            </a:r>
            <a:r>
              <a:rPr sz="1400" b="1">
                <a:solidFill>
                  <a:srgbClr val="593A28"/>
                </a:solidFill>
                <a:latin typeface="Segoe UI"/>
              </a:rPr>
              <a:t>Aucune librairie lourde (ni Bootstrap, ni jQuery)</a:t>
            </a:r>
            <a:r>
              <a:rPr sz="1350">
                <a:solidFill>
                  <a:srgbClr val="8C593B"/>
                </a:solidFill>
                <a:latin typeface="Segoe UI"/>
              </a:rPr>
              <a:t> — moins de code à télécharger pour l'utilisateur.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4F7942"/>
                </a:solidFill>
                <a:latin typeface="Segoe UI"/>
              </a:rPr>
              <a:t>✓  </a:t>
            </a:r>
            <a:r>
              <a:rPr sz="1400" b="1">
                <a:solidFill>
                  <a:srgbClr val="593A28"/>
                </a:solidFill>
                <a:latin typeface="Segoe UI"/>
              </a:rPr>
              <a:t>CSS factorisé avec SCSS</a:t>
            </a:r>
            <a:r>
              <a:rPr sz="1350">
                <a:solidFill>
                  <a:srgbClr val="8C593B"/>
                </a:solidFill>
                <a:latin typeface="Segoe UI"/>
              </a:rPr>
              <a:t> — variables et mixins évitent de répéter le même style.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48840"/>
            <a:ext cx="5120640" cy="3657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/>
          <a:p>
            <a:pPr>
              <a:spcAft>
                <a:spcPts val="900"/>
              </a:spcAft>
            </a:pPr>
            <a:r>
              <a:rPr sz="1400" b="1">
                <a:solidFill>
                  <a:srgbClr val="4F7942"/>
                </a:solidFill>
                <a:latin typeface="Segoe UI"/>
              </a:rPr>
              <a:t>✓  </a:t>
            </a:r>
            <a:r>
              <a:rPr sz="1400" b="1">
                <a:solidFill>
                  <a:srgbClr val="593A28"/>
                </a:solidFill>
                <a:latin typeface="Segoe UI"/>
              </a:rPr>
              <a:t>Polices et icônes ciblées</a:t>
            </a:r>
            <a:r>
              <a:rPr sz="1350">
                <a:solidFill>
                  <a:srgbClr val="8C593B"/>
                </a:solidFill>
                <a:latin typeface="Segoe UI"/>
              </a:rPr>
              <a:t> — on n'importe que ce qui est réellement utilisé.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4F7942"/>
                </a:solidFill>
                <a:latin typeface="Segoe UI"/>
              </a:rPr>
              <a:t>✓  </a:t>
            </a:r>
            <a:r>
              <a:rPr sz="1400" b="1">
                <a:solidFill>
                  <a:srgbClr val="593A28"/>
                </a:solidFill>
                <a:latin typeface="Segoe UI"/>
              </a:rPr>
              <a:t>Données chargées à la demande</a:t>
            </a:r>
            <a:r>
              <a:rPr sz="1350">
                <a:solidFill>
                  <a:srgbClr val="8C593B"/>
                </a:solidFill>
                <a:latin typeface="Segoe UI"/>
              </a:rPr>
              <a:t> — le serveur n'envoie que le nécessaire, au bon moment.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4F7942"/>
                </a:solidFill>
                <a:latin typeface="Segoe UI"/>
              </a:rPr>
              <a:t>✓  </a:t>
            </a:r>
            <a:r>
              <a:rPr sz="1400" b="1">
                <a:solidFill>
                  <a:srgbClr val="593A28"/>
                </a:solidFill>
                <a:latin typeface="Segoe UI"/>
              </a:rPr>
              <a:t>Code structuré et réutilisable</a:t>
            </a:r>
            <a:r>
              <a:rPr sz="1350">
                <a:solidFill>
                  <a:srgbClr val="8C593B"/>
                </a:solidFill>
                <a:latin typeface="Segoe UI"/>
              </a:rPr>
              <a:t> — plus simple à maintenir et à faire évoluer.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93A28"/>
                </a:solidFill>
                <a:latin typeface="Segoe UI"/>
              </a:rPr>
              <a:t>Bénéfices : pages plus rapides, moins de données mobiles consommées, meilleure accessibilité.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93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27729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93A28"/>
                </a:solidFill>
                <a:latin typeface="Segoe UI"/>
              </a:rPr>
              <a:t>STRUCTURER ET ADAPTER L'AFFICHAGE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277295" cy="60350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Georgia"/>
              </a:rPr>
              <a:t>Le style avec SCSS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534095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593B"/>
                </a:solidFill>
                <a:latin typeface="Segoe UI"/>
              </a:rPr>
              <a:t>Pet's Book — réseau social dédié aux animaux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9855" y="6473952"/>
            <a:ext cx="27889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>
                <a:solidFill>
                  <a:srgbClr val="8C593B"/>
                </a:solidFill>
                <a:latin typeface="Segoe UI"/>
              </a:rPr>
              <a:t>RNCP 37273 · Bloc 2 ·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911535" cy="4297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/>
          <a:p>
            <a:pPr>
              <a:spcAft>
                <a:spcPts val="900"/>
              </a:spcAft>
            </a:pPr>
            <a:r>
              <a:rPr sz="1400" b="1">
                <a:solidFill>
                  <a:srgbClr val="4F7942"/>
                </a:solidFill>
                <a:latin typeface="Segoe UI"/>
              </a:rPr>
              <a:t>✓  </a:t>
            </a:r>
            <a:r>
              <a:rPr sz="1400" b="1">
                <a:solidFill>
                  <a:srgbClr val="593A28"/>
                </a:solidFill>
                <a:latin typeface="Segoe UI"/>
              </a:rPr>
              <a:t>Préprocesseur SCSS, architecture « 7-1 »</a:t>
            </a:r>
            <a:r>
              <a:rPr sz="1350">
                <a:solidFill>
                  <a:srgbClr val="8C593B"/>
                </a:solidFill>
                <a:latin typeface="Segoe UI"/>
              </a:rPr>
              <a:t> — le CSS est rangé en dossiers clairs, facile à maintenir.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4F7942"/>
                </a:solidFill>
                <a:latin typeface="Segoe UI"/>
              </a:rPr>
              <a:t>✓  </a:t>
            </a:r>
            <a:r>
              <a:rPr sz="1400" b="1">
                <a:solidFill>
                  <a:srgbClr val="593A28"/>
                </a:solidFill>
                <a:latin typeface="Segoe UI"/>
              </a:rPr>
              <a:t>Variables et mixins</a:t>
            </a:r>
            <a:r>
              <a:rPr sz="1350">
                <a:solidFill>
                  <a:srgbClr val="8C593B"/>
                </a:solidFill>
                <a:latin typeface="Segoe UI"/>
              </a:rPr>
              <a:t> — couleurs et espacements cohérents partout, sans répétition.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4F7942"/>
                </a:solidFill>
                <a:latin typeface="Segoe UI"/>
              </a:rPr>
              <a:t>✓  </a:t>
            </a:r>
            <a:r>
              <a:rPr sz="1400" b="1">
                <a:solidFill>
                  <a:srgbClr val="593A28"/>
                </a:solidFill>
                <a:latin typeface="Segoe UI"/>
              </a:rPr>
              <a:t>Mobile-first avec media queries</a:t>
            </a:r>
            <a:r>
              <a:rPr sz="1350">
                <a:solidFill>
                  <a:srgbClr val="8C593B"/>
                </a:solidFill>
                <a:latin typeface="Segoe UI"/>
              </a:rPr>
              <a:t> — l'affichage est pensé d'abord pour le téléphone, puis agrandi pour les écrans plus larges.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4F7942"/>
                </a:solidFill>
                <a:latin typeface="Segoe UI"/>
              </a:rPr>
              <a:t>✓  </a:t>
            </a:r>
            <a:r>
              <a:rPr sz="1400" b="1">
                <a:solidFill>
                  <a:srgbClr val="593A28"/>
                </a:solidFill>
                <a:latin typeface="Segoe UI"/>
              </a:rPr>
              <a:t>Nommage BEM des classes</a:t>
            </a:r>
            <a:r>
              <a:rPr sz="1350">
                <a:solidFill>
                  <a:srgbClr val="8C593B"/>
                </a:solidFill>
                <a:latin typeface="Segoe UI"/>
              </a:rPr>
              <a:t> — des noms de classes lisibles et prévisibles.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4F7942"/>
                </a:solidFill>
                <a:latin typeface="Segoe UI"/>
              </a:rPr>
              <a:t>✓  </a:t>
            </a:r>
            <a:r>
              <a:rPr sz="1400" b="1">
                <a:solidFill>
                  <a:srgbClr val="593A28"/>
                </a:solidFill>
                <a:latin typeface="Segoe UI"/>
              </a:rPr>
              <a:t>Modules modernes @use / @forward</a:t>
            </a:r>
            <a:r>
              <a:rPr sz="1350">
                <a:solidFill>
                  <a:srgbClr val="8C593B"/>
                </a:solidFill>
                <a:latin typeface="Segoe UI"/>
              </a:rPr>
              <a:t> — organisation propre, sans l'ancien @import déprécié.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852160"/>
            <a:ext cx="10911535" cy="457200"/>
          </a:xfrm>
          <a:prstGeom prst="roundRect">
            <a:avLst/>
          </a:prstGeom>
          <a:solidFill>
            <a:srgbClr val="F6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50" b="1">
                <a:solidFill>
                  <a:srgbClr val="BF8A6B"/>
                </a:solidFill>
                <a:latin typeface="Segoe UI"/>
              </a:rPr>
              <a:t>Compétences Bloc 2  ·  </a:t>
            </a:r>
            <a:r>
              <a:rPr sz="1150">
                <a:solidFill>
                  <a:srgbClr val="593A28"/>
                </a:solidFill>
                <a:latin typeface="Segoe UI"/>
              </a:rPr>
              <a:t>structurer le code avec un préprocesseur CSS  ·  agencement mobile-first (media queries)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93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27729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93A28"/>
                </a:solidFill>
                <a:latin typeface="Segoe UI"/>
              </a:rPr>
              <a:t>DÉCOUPER LA MAQUETTE ET INTÉGRER LES CONTENUS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277295" cy="60350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Georgia"/>
              </a:rPr>
              <a:t>La structure avec 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534095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593B"/>
                </a:solidFill>
                <a:latin typeface="Segoe UI"/>
              </a:rPr>
              <a:t>Pet's Book — réseau social dédié aux animaux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9855" y="6473952"/>
            <a:ext cx="27889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>
                <a:solidFill>
                  <a:srgbClr val="8C593B"/>
                </a:solidFill>
                <a:latin typeface="Segoe UI"/>
              </a:rPr>
              <a:t>RNCP 37273 · Bloc 2 ·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911535" cy="4297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/>
          <a:p>
            <a:pPr>
              <a:spcAft>
                <a:spcPts val="900"/>
              </a:spcAft>
            </a:pPr>
            <a:r>
              <a:rPr sz="1400" b="1">
                <a:solidFill>
                  <a:srgbClr val="4F7942"/>
                </a:solidFill>
                <a:latin typeface="Segoe UI"/>
              </a:rPr>
              <a:t>✓  </a:t>
            </a:r>
            <a:r>
              <a:rPr sz="1400" b="1">
                <a:solidFill>
                  <a:srgbClr val="593A28"/>
                </a:solidFill>
                <a:latin typeface="Segoe UI"/>
              </a:rPr>
              <a:t>Découpage en blocs sémantiques</a:t>
            </a:r>
            <a:r>
              <a:rPr sz="1350">
                <a:solidFill>
                  <a:srgbClr val="8C593B"/>
                </a:solidFill>
                <a:latin typeface="Segoe UI"/>
              </a:rPr>
              <a:t> — header, nav, main, section, article, footer : une structure qui a du sens.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4F7942"/>
                </a:solidFill>
                <a:latin typeface="Segoe UI"/>
              </a:rPr>
              <a:t>✓  </a:t>
            </a:r>
            <a:r>
              <a:rPr sz="1400" b="1">
                <a:solidFill>
                  <a:srgbClr val="593A28"/>
                </a:solidFill>
                <a:latin typeface="Segoe UI"/>
              </a:rPr>
              <a:t>Balises génériques (div, span) au bon endroit</a:t>
            </a:r>
            <a:r>
              <a:rPr sz="1350">
                <a:solidFill>
                  <a:srgbClr val="8C593B"/>
                </a:solidFill>
                <a:latin typeface="Segoe UI"/>
              </a:rPr>
              <a:t> — complètent le sémantique quand c'est pertinent.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4F7942"/>
                </a:solidFill>
                <a:latin typeface="Segoe UI"/>
              </a:rPr>
              <a:t>✓  </a:t>
            </a:r>
            <a:r>
              <a:rPr sz="1400" b="1">
                <a:solidFill>
                  <a:srgbClr val="593A28"/>
                </a:solidFill>
                <a:latin typeface="Segoe UI"/>
              </a:rPr>
              <a:t>Accessibilité soignée</a:t>
            </a:r>
            <a:r>
              <a:rPr sz="1350">
                <a:solidFill>
                  <a:srgbClr val="8C593B"/>
                </a:solidFill>
                <a:latin typeface="Segoe UI"/>
              </a:rPr>
              <a:t> — lien d'évitement, aria-label, textes alternatifs, focus visible (objectif WCAG AA, validation W3C).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4F7942"/>
                </a:solidFill>
                <a:latin typeface="Segoe UI"/>
              </a:rPr>
              <a:t>✓  </a:t>
            </a:r>
            <a:r>
              <a:rPr sz="1400" b="1">
                <a:solidFill>
                  <a:srgbClr val="593A28"/>
                </a:solidFill>
                <a:latin typeface="Segoe UI"/>
              </a:rPr>
              <a:t>Actifs intégrés</a:t>
            </a:r>
            <a:r>
              <a:rPr sz="1350">
                <a:solidFill>
                  <a:srgbClr val="8C593B"/>
                </a:solidFill>
                <a:latin typeface="Segoe UI"/>
              </a:rPr>
              <a:t> — images optimisées, vidéo et audio de présentation, polices importées.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852160"/>
            <a:ext cx="10911535" cy="457200"/>
          </a:xfrm>
          <a:prstGeom prst="roundRect">
            <a:avLst/>
          </a:prstGeom>
          <a:solidFill>
            <a:srgbClr val="F6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50" b="1">
                <a:solidFill>
                  <a:srgbClr val="BF8A6B"/>
                </a:solidFill>
                <a:latin typeface="Segoe UI"/>
              </a:rPr>
              <a:t>Compétences Bloc 2  ·  </a:t>
            </a:r>
            <a:r>
              <a:rPr sz="1150">
                <a:solidFill>
                  <a:srgbClr val="593A28"/>
                </a:solidFill>
                <a:latin typeface="Segoe UI"/>
              </a:rPr>
              <a:t>analyser &amp; structurer la maquette en HTML  ·  typographie/accessibilité  ·  intégrer les actifs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93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27729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93A28"/>
                </a:solidFill>
                <a:latin typeface="Segoe UI"/>
              </a:rPr>
              <a:t>RENDRE LA PAGE VIVANTE ET COMMUNIQUER AVEC LE SERVEUR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277295" cy="60350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Georgia"/>
              </a:rPr>
              <a:t>L'interactivité avec JavaScript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534095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593B"/>
                </a:solidFill>
                <a:latin typeface="Segoe UI"/>
              </a:rPr>
              <a:t>Pet's Book — réseau social dédié aux animaux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9855" y="6473952"/>
            <a:ext cx="27889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>
                <a:solidFill>
                  <a:srgbClr val="8C593B"/>
                </a:solidFill>
                <a:latin typeface="Segoe UI"/>
              </a:rPr>
              <a:t>RNCP 37273 · Bloc 2 ·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911535" cy="4297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/>
          <a:p>
            <a:pPr>
              <a:spcAft>
                <a:spcPts val="900"/>
              </a:spcAft>
            </a:pPr>
            <a:r>
              <a:rPr sz="1400" b="1">
                <a:solidFill>
                  <a:srgbClr val="4F7942"/>
                </a:solidFill>
                <a:latin typeface="Segoe UI"/>
              </a:rPr>
              <a:t>✓  </a:t>
            </a:r>
            <a:r>
              <a:rPr sz="1400" b="1">
                <a:solidFill>
                  <a:srgbClr val="593A28"/>
                </a:solidFill>
                <a:latin typeface="Segoe UI"/>
              </a:rPr>
              <a:t>Manipulation du DOM &amp; gestion d'événements</a:t>
            </a:r>
            <a:r>
              <a:rPr sz="1350">
                <a:solidFill>
                  <a:srgbClr val="8C593B"/>
                </a:solidFill>
                <a:latin typeface="Segoe UI"/>
              </a:rPr>
              <a:t> — réagir aux clics, au clavier, à l'envoi de formulaires.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4F7942"/>
                </a:solidFill>
                <a:latin typeface="Segoe UI"/>
              </a:rPr>
              <a:t>✓  </a:t>
            </a:r>
            <a:r>
              <a:rPr sz="1400" b="1">
                <a:solidFill>
                  <a:srgbClr val="593A28"/>
                </a:solidFill>
                <a:latin typeface="Segoe UI"/>
              </a:rPr>
              <a:t>Composants interactifs</a:t>
            </a:r>
            <a:r>
              <a:rPr sz="1350">
                <a:solidFill>
                  <a:srgbClr val="8C593B"/>
                </a:solidFill>
                <a:latin typeface="Segoe UI"/>
              </a:rPr>
              <a:t> — fenêtre modale, sélecteur d'étoiles, filtres, carrousel, réactions emoji.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4F7942"/>
                </a:solidFill>
                <a:latin typeface="Segoe UI"/>
              </a:rPr>
              <a:t>✓  </a:t>
            </a:r>
            <a:r>
              <a:rPr sz="1400" b="1">
                <a:solidFill>
                  <a:srgbClr val="593A28"/>
                </a:solidFill>
                <a:latin typeface="Segoe UI"/>
              </a:rPr>
              <a:t>Validation des formulaires côté navigateur</a:t>
            </a:r>
            <a:r>
              <a:rPr sz="1350">
                <a:solidFill>
                  <a:srgbClr val="8C593B"/>
                </a:solidFill>
                <a:latin typeface="Segoe UI"/>
              </a:rPr>
              <a:t> — retours immédiats à l'utilisateur (ex. « cochez une note »).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4F7942"/>
                </a:solidFill>
                <a:latin typeface="Segoe UI"/>
              </a:rPr>
              <a:t>✓  </a:t>
            </a:r>
            <a:r>
              <a:rPr sz="1400" b="1">
                <a:solidFill>
                  <a:srgbClr val="593A28"/>
                </a:solidFill>
                <a:latin typeface="Segoe UI"/>
              </a:rPr>
              <a:t>Requêtes HTTP asynchrones (fetch + async/await)</a:t>
            </a:r>
            <a:r>
              <a:rPr sz="1350">
                <a:solidFill>
                  <a:srgbClr val="8C593B"/>
                </a:solidFill>
                <a:latin typeface="Segoe UI"/>
              </a:rPr>
              <a:t> — le contenu se met à jour sans recharger la page.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4F7942"/>
                </a:solidFill>
                <a:latin typeface="Segoe UI"/>
              </a:rPr>
              <a:t>✓  </a:t>
            </a:r>
            <a:r>
              <a:rPr sz="1400" b="1">
                <a:solidFill>
                  <a:srgbClr val="593A28"/>
                </a:solidFill>
                <a:latin typeface="Segoe UI"/>
              </a:rPr>
              <a:t>Dialogue avec mon back-end Express ET une API externe</a:t>
            </a:r>
            <a:r>
              <a:rPr sz="1350">
                <a:solidFill>
                  <a:srgbClr val="8C593B"/>
                </a:solidFill>
                <a:latin typeface="Segoe UI"/>
              </a:rPr>
              <a:t> — les deux cas prévus par la grille sont couverts.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852160"/>
            <a:ext cx="10911535" cy="457200"/>
          </a:xfrm>
          <a:prstGeom prst="roundRect">
            <a:avLst/>
          </a:prstGeom>
          <a:solidFill>
            <a:srgbClr val="F6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50" b="1">
                <a:solidFill>
                  <a:srgbClr val="BF8A6B"/>
                </a:solidFill>
                <a:latin typeface="Segoe UI"/>
              </a:rPr>
              <a:t>Compétences Bloc 2  ·  </a:t>
            </a:r>
            <a:r>
              <a:rPr sz="1150">
                <a:solidFill>
                  <a:srgbClr val="593A28"/>
                </a:solidFill>
                <a:latin typeface="Segoe UI"/>
              </a:rPr>
              <a:t>manipuler la page pour interagir avec l'utilisateur  ·  communication asynchrone avec un serveur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93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27729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93A28"/>
                </a:solidFill>
                <a:latin typeface="Segoe UI"/>
              </a:rPr>
              <a:t>UN CODE SOIGNÉ ET PROTÉGÉ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277295" cy="60350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Georgia"/>
              </a:rPr>
              <a:t>Qualité &amp; sécurité — les points forts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534095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593B"/>
                </a:solidFill>
                <a:latin typeface="Segoe UI"/>
              </a:rPr>
              <a:t>Pet's Book — réseau social dédié aux animaux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9855" y="6473952"/>
            <a:ext cx="27889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>
                <a:solidFill>
                  <a:srgbClr val="8C593B"/>
                </a:solidFill>
                <a:latin typeface="Segoe UI"/>
              </a:rPr>
              <a:t>RNCP 37273 · Bloc 2 ·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5486400" cy="4572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BF8A6B"/>
                </a:solidFill>
                <a:latin typeface="Georgia"/>
              </a:rPr>
              <a:t>Sécurité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593A28"/>
                </a:solidFill>
                <a:latin typeface="Segoe UI"/>
              </a:rPr>
              <a:t>•  Mots de passe : </a:t>
            </a:r>
            <a:r>
              <a:rPr sz="1250">
                <a:solidFill>
                  <a:srgbClr val="593A28"/>
                </a:solidFill>
                <a:latin typeface="Segoe UI"/>
              </a:rPr>
              <a:t>jamais stockés en clair : « hachés » avec bcrypt + un secret (poivre).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593A28"/>
                </a:solidFill>
                <a:latin typeface="Segoe UI"/>
              </a:rPr>
              <a:t>•  Connexion : </a:t>
            </a:r>
            <a:r>
              <a:rPr sz="1250">
                <a:solidFill>
                  <a:srgbClr val="593A28"/>
                </a:solidFill>
                <a:latin typeface="Segoe UI"/>
              </a:rPr>
              <a:t>un jeton signé (JWT) prouve l'identité à chaque requête.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593A28"/>
                </a:solidFill>
                <a:latin typeface="Segoe UI"/>
              </a:rPr>
              <a:t>•  Base de données : </a:t>
            </a:r>
            <a:r>
              <a:rPr sz="1250">
                <a:solidFill>
                  <a:srgbClr val="593A28"/>
                </a:solidFill>
                <a:latin typeface="Segoe UI"/>
              </a:rPr>
              <a:t>requêtes SQL préparées : empêchent l'injection de code dans la base.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593A28"/>
                </a:solidFill>
                <a:latin typeface="Segoe UI"/>
              </a:rPr>
              <a:t>•  Contenus : </a:t>
            </a:r>
            <a:r>
              <a:rPr sz="1250">
                <a:solidFill>
                  <a:srgbClr val="593A28"/>
                </a:solidFill>
                <a:latin typeface="Segoe UI"/>
              </a:rPr>
              <a:t>tout texte affiché est échappé pour empêcher l'injection de scripts (XSS).</a:t>
            </a:r>
          </a:p>
          <a:p>
            <a:pPr>
              <a:spcAft>
                <a:spcPts val="0"/>
              </a:spcAft>
            </a:pPr>
            <a:r>
              <a:rPr sz="1250" b="1">
                <a:solidFill>
                  <a:srgbClr val="593A28"/>
                </a:solidFill>
                <a:latin typeface="Segoe UI"/>
              </a:rPr>
              <a:t>•  Serveur : </a:t>
            </a:r>
            <a:r>
              <a:rPr sz="1250">
                <a:solidFill>
                  <a:srgbClr val="593A28"/>
                </a:solidFill>
                <a:latin typeface="Segoe UI"/>
              </a:rPr>
              <a:t>en-têtes de sécurité (helmet) + limitation des tentatives (anti brute-force).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5120640" cy="4572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BF8A6B"/>
                </a:solidFill>
                <a:latin typeface="Georgia"/>
              </a:rPr>
              <a:t>Qualité du code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593A28"/>
                </a:solidFill>
                <a:latin typeface="Segoe UI"/>
              </a:rPr>
              <a:t>•  Organisation : </a:t>
            </a:r>
            <a:r>
              <a:rPr sz="1250">
                <a:solidFill>
                  <a:srgbClr val="593A28"/>
                </a:solidFill>
                <a:latin typeface="Segoe UI"/>
              </a:rPr>
              <a:t>rangé par domaine, commenté et indenté.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593A28"/>
                </a:solidFill>
                <a:latin typeface="Segoe UI"/>
              </a:rPr>
              <a:t>•  Lisibilité : </a:t>
            </a:r>
            <a:r>
              <a:rPr sz="1250">
                <a:solidFill>
                  <a:srgbClr val="593A28"/>
                </a:solidFill>
                <a:latin typeface="Segoe UI"/>
              </a:rPr>
              <a:t>noms explicites pour les variables, fichiers et URL.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593A28"/>
                </a:solidFill>
                <a:latin typeface="Segoe UI"/>
              </a:rPr>
              <a:t>•  Robustesse : </a:t>
            </a:r>
            <a:r>
              <a:rPr sz="1250">
                <a:solidFill>
                  <a:srgbClr val="593A28"/>
                </a:solidFill>
                <a:latin typeface="Segoe UI"/>
              </a:rPr>
              <a:t>gestion centralisée des erreurs : pas de page d'erreur 500.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593A28"/>
                </a:solidFill>
                <a:latin typeface="Segoe UI"/>
              </a:rPr>
              <a:t>•  Affichage : </a:t>
            </a:r>
            <a:r>
              <a:rPr sz="1250">
                <a:solidFill>
                  <a:srgbClr val="593A28"/>
                </a:solidFill>
                <a:latin typeface="Segoe UI"/>
              </a:rPr>
              <a:t>responsive : s'adapte du mobile au grand écran.</a:t>
            </a:r>
          </a:p>
          <a:p>
            <a:pPr>
              <a:spcAft>
                <a:spcPts val="0"/>
              </a:spcAft>
            </a:pPr>
            <a:r>
              <a:rPr sz="1250" b="1">
                <a:solidFill>
                  <a:srgbClr val="593A28"/>
                </a:solidFill>
                <a:latin typeface="Segoe UI"/>
              </a:rPr>
              <a:t>•  Back-office : </a:t>
            </a:r>
            <a:r>
              <a:rPr sz="1250">
                <a:solidFill>
                  <a:srgbClr val="593A28"/>
                </a:solidFill>
                <a:latin typeface="Segoe UI"/>
              </a:rPr>
              <a:t>espace d'administration avec un CRUD complet.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93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B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B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ets_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327" y="1005840"/>
            <a:ext cx="1463040" cy="1463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2743200"/>
            <a:ext cx="9997135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Merci de votre attention</a:t>
            </a:r>
          </a:p>
          <a:p>
            <a:pPr algn="ctr">
              <a:spcBef>
                <a:spcPts val="0"/>
              </a:spcBef>
              <a:spcAft>
                <a:spcPts val="1400"/>
              </a:spcAft>
            </a:pPr>
            <a:r>
              <a:rPr sz="2000" b="1" i="0">
                <a:solidFill>
                  <a:srgbClr val="BF8A6B"/>
                </a:solidFill>
                <a:latin typeface="Segoe UI"/>
              </a:rPr>
              <a:t>Place à la démonstration en direct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6F1EC"/>
                </a:solidFill>
                <a:latin typeface="Segoe UI"/>
              </a:rPr>
              <a:t>Je vous propose de parcourir ensemble le site : création de profil, feed, évènements et avis, marketplace, et espace administrateur.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